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306" r:id="rId36"/>
    <p:sldId id="307" r:id="rId37"/>
    <p:sldId id="308" r:id="rId38"/>
    <p:sldId id="309" r:id="rId39"/>
    <p:sldId id="290" r:id="rId40"/>
    <p:sldId id="291" r:id="rId41"/>
    <p:sldId id="292" r:id="rId42"/>
    <p:sldId id="293" r:id="rId43"/>
    <p:sldId id="310" r:id="rId44"/>
    <p:sldId id="294" r:id="rId45"/>
    <p:sldId id="295" r:id="rId46"/>
    <p:sldId id="296" r:id="rId47"/>
    <p:sldId id="311" r:id="rId48"/>
    <p:sldId id="312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64"/>
    <p:restoredTop sz="82910"/>
  </p:normalViewPr>
  <p:slideViewPr>
    <p:cSldViewPr snapToGrid="0" snapToObjects="1">
      <p:cViewPr varScale="1">
        <p:scale>
          <a:sx n="111" d="100"/>
          <a:sy n="111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7133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MedPaLM</a:t>
            </a:r>
            <a:r>
              <a:rPr lang="en-US" dirty="0"/>
              <a:t>: specialized to answer Medical questions (Google)</a:t>
            </a:r>
          </a:p>
          <a:p>
            <a:r>
              <a:rPr lang="en-US" dirty="0" err="1"/>
              <a:t>CodeLlama</a:t>
            </a:r>
            <a:r>
              <a:rPr lang="en-US" dirty="0"/>
              <a:t>, </a:t>
            </a:r>
            <a:r>
              <a:rPr lang="en-US" dirty="0" err="1"/>
              <a:t>StarCoder</a:t>
            </a:r>
            <a:r>
              <a:rPr lang="en-US" dirty="0"/>
              <a:t>: open-weight models specialized for coding tasks.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Llama: allowed up to 100,000 tokens.</a:t>
            </a:r>
          </a:p>
          <a:p>
            <a:r>
              <a:rPr lang="en-IN" b="1" dirty="0"/>
              <a:t>MMLU</a:t>
            </a:r>
            <a:r>
              <a:rPr lang="en-IN" dirty="0"/>
              <a:t> stands for </a:t>
            </a:r>
            <a:r>
              <a:rPr lang="en-IN" b="1" dirty="0"/>
              <a:t>Massive Multitask Language Understanding</a:t>
            </a:r>
            <a:r>
              <a:rPr lang="en-IN" dirty="0"/>
              <a:t>. It is one of the most widely used benchmarks for evaluating the knowledge and reasoning abilities of large language models (LLMs).</a:t>
            </a:r>
          </a:p>
          <a:p>
            <a:r>
              <a:rPr lang="en-IN" b="1" dirty="0"/>
              <a:t>What does MMLU measure?</a:t>
            </a:r>
          </a:p>
          <a:p>
            <a:r>
              <a:rPr lang="en-IN" dirty="0"/>
              <a:t>MMLU tests a model's ability to answer </a:t>
            </a:r>
            <a:r>
              <a:rPr lang="en-IN" b="1" dirty="0"/>
              <a:t>multiple-choice questions</a:t>
            </a:r>
            <a:r>
              <a:rPr lang="en-IN" dirty="0"/>
              <a:t> across </a:t>
            </a:r>
            <a:r>
              <a:rPr lang="en-IN" b="1" dirty="0"/>
              <a:t>57 academic and professional subjects</a:t>
            </a:r>
            <a:r>
              <a:rPr lang="en-IN" dirty="0"/>
              <a:t>, </a:t>
            </a:r>
          </a:p>
          <a:p>
            <a:r>
              <a:rPr lang="en-IN" b="1" dirty="0" err="1"/>
              <a:t>HumanEval</a:t>
            </a:r>
            <a:r>
              <a:rPr lang="en-IN" dirty="0"/>
              <a:t> is the most influential benchmark for evaluating the </a:t>
            </a:r>
            <a:r>
              <a:rPr lang="en-IN" b="1" dirty="0"/>
              <a:t>code generation</a:t>
            </a:r>
            <a:r>
              <a:rPr lang="en-IN" dirty="0"/>
              <a:t> ability of large language models. It was introduced by OpenAI in the 2021 Codex paper and has become the standard benchmark reported for coding models such as Code Llama, </a:t>
            </a:r>
            <a:r>
              <a:rPr lang="en-IN" dirty="0" err="1"/>
              <a:t>StarCoder</a:t>
            </a:r>
            <a:r>
              <a:rPr lang="en-IN" dirty="0"/>
              <a:t>, Qwen-Coder, DeepSeek-Coder, and many others. </a:t>
            </a:r>
          </a:p>
          <a:p>
            <a:r>
              <a:rPr lang="en-IN" b="1" dirty="0"/>
              <a:t>What does </a:t>
            </a:r>
            <a:r>
              <a:rPr lang="en-IN" b="1" dirty="0" err="1"/>
              <a:t>HumanEval</a:t>
            </a:r>
            <a:r>
              <a:rPr lang="en-IN" b="1" dirty="0"/>
              <a:t> test?</a:t>
            </a:r>
          </a:p>
          <a:p>
            <a:r>
              <a:rPr lang="en-IN" dirty="0" err="1"/>
              <a:t>HumanEval</a:t>
            </a:r>
            <a:r>
              <a:rPr lang="en-IN" dirty="0"/>
              <a:t> consists of </a:t>
            </a:r>
            <a:r>
              <a:rPr lang="en-IN" b="1" dirty="0"/>
              <a:t>164 hand-written Python programming problems</a:t>
            </a:r>
            <a:r>
              <a:rPr lang="en-IN" dirty="0"/>
              <a:t>.</a:t>
            </a:r>
          </a:p>
          <a:p>
            <a:r>
              <a:rPr lang="en-IN" dirty="0"/>
              <a:t>For each problem, the model is given:</a:t>
            </a:r>
          </a:p>
          <a:p>
            <a:r>
              <a:rPr lang="en-IN" dirty="0"/>
              <a:t>A function signature </a:t>
            </a:r>
          </a:p>
          <a:p>
            <a:r>
              <a:rPr lang="en-IN" dirty="0"/>
              <a:t>A docstring describing the required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r>
              <a:rPr lang="en-IN" dirty="0"/>
              <a:t>Sometimes a few examples </a:t>
            </a:r>
          </a:p>
          <a:p>
            <a:r>
              <a:rPr lang="en-IN" dirty="0"/>
              <a:t>The model must generate the function body.</a:t>
            </a:r>
          </a:p>
          <a:p>
            <a:r>
              <a:rPr lang="en-IN" dirty="0"/>
              <a:t>Vendor lock-in occurs when it becomes </a:t>
            </a:r>
            <a:r>
              <a:rPr lang="en-IN" b="1" dirty="0"/>
              <a:t>difficult or expensive to switch from one LLM provider to another (e.g. because of incompatible APIs)</a:t>
            </a:r>
          </a:p>
          <a:p>
            <a:r>
              <a:rPr lang="en-IN" b="1" dirty="0"/>
              <a:t>SLA: c</a:t>
            </a:r>
            <a:r>
              <a:rPr lang="en-IN" dirty="0"/>
              <a:t>ontractual commitment describing the level of service a provider guarantees.</a:t>
            </a:r>
          </a:p>
          <a:p>
            <a:r>
              <a:rPr lang="en-US" dirty="0"/>
              <a:t>IP/licensing constraints: political factors sometimes dictate the availability of advanced models, e.g. the situation with advanced models of anthropic in recent months (Fable 5 and Mythos 5)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9C652-2BA6-9A58-BA8E-3A516365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0BAE5-B279-4D50-77CE-7394DE705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3C3CA-C9A4-8C23-ADD5-2A5DE0D52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5E7B7-595E-B6DE-44BA-74FE90906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592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F8618-9A89-2EEF-4384-82D4725C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1196F-5D10-FF07-1249-4AF32E2E5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87A97-FFC6-1657-91E2-57D65FC08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EDC09-5D48-F7C6-A41D-5C0E0D1D1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423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50800-28D0-BBA7-C461-1B46DE45B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AAF70-62AA-F767-486E-3E3B6215A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81AA5-5AC6-F0F6-6BAD-E99F7972C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5F3A1-6E3C-1003-B271-C6B52D623B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446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E8840-E8D7-0DFF-0A26-CE0B2B3B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AAEBB-BB84-8D5C-6F74-CFF14D5FA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417C4-1BC2-461B-55F8-0082C5F1C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05A30-3A1C-B2DF-47C5-CA168DDED8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219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917C-8304-8790-59A5-29FB3F41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477F3-C717-4B1B-7B5C-9AFF0A56C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2A915-9701-614E-9C92-F238B5B91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9E734-3091-EE08-8671-DF59A5CF5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387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5BFE6-BBFF-37F0-CEB4-8DA4CF97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7F8B7-5696-C101-6970-ADC08D560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DA45D-1E92-A683-0303-731A28A95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FED27-15AE-10F2-176D-2BC2B33E16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0400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A7FB5-C0FD-C5A1-5F49-84FC1163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9CB4E-BBD5-2FBF-0FE3-E55A492CA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2A1F3-7C60-6D0B-48D7-43A01EF6D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F8D9F-3426-A92E-80D5-7D87E6B16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398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7e825aadf_1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7e825aadf_1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7387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schakraborty@cse.iitkgp.ac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iindex.stanford.edu/repor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api/pricin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sota/multi-task-language-understanding-on-mmlu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7.03172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i.meta.com/blog/meta-llama-3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api/pricin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guides/batch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2.03629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0.acl-main.173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7.05221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uters.com/legal/new-york-lawyers-sanctioned-using-chatgpt-legal-research-2023-06-22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1401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blog/ai-and-ml/github-copilot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eatures/copilot#pricing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ursor.com/pricing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thropic.com/en/docs/claude-code/overview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indsurf.com/pricing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ursor.com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blog/2022-09-07-research-quantifying-github-copilots-impact-on-developer-productivity-and-happiness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mailto:rschakraborty@cse.iitkgp.ac.in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25800"/>
            <a:ext cx="6949440" cy="2600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00000"/>
                </a:solidFill>
              </a:rPr>
              <a:t>Foundation Models, </a:t>
            </a:r>
          </a:p>
          <a:p>
            <a:pPr marL="0" indent="0" algn="ctr">
              <a:buNone/>
            </a:pPr>
            <a:r>
              <a:rPr lang="en-US" sz="4200" b="1" dirty="0">
                <a:solidFill>
                  <a:srgbClr val="C00000"/>
                </a:solidFill>
              </a:rPr>
              <a:t>Token Economics &amp; </a:t>
            </a:r>
          </a:p>
          <a:p>
            <a:pPr marL="0" indent="0" algn="ctr">
              <a:buNone/>
            </a:pPr>
            <a:r>
              <a:rPr lang="en-US" sz="4200" b="1" dirty="0">
                <a:solidFill>
                  <a:srgbClr val="C00000"/>
                </a:solidFill>
              </a:rPr>
              <a:t>AI Pair-Programming </a:t>
            </a:r>
          </a:p>
          <a:p>
            <a:pPr marL="0" indent="0" algn="ctr">
              <a:buNone/>
            </a:pPr>
            <a:r>
              <a:rPr lang="en-US" sz="4200" b="1" dirty="0">
                <a:solidFill>
                  <a:srgbClr val="C00000"/>
                </a:solidFill>
              </a:rPr>
              <a:t>(Module 1.1)</a:t>
            </a:r>
          </a:p>
        </p:txBody>
      </p:sp>
      <p:sp>
        <p:nvSpPr>
          <p:cNvPr id="7" name="Text 5"/>
          <p:cNvSpPr/>
          <p:nvPr/>
        </p:nvSpPr>
        <p:spPr>
          <a:xfrm>
            <a:off x="1180689" y="3121200"/>
            <a:ext cx="6949440" cy="1160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 Black" panose="020B0A04020102020204" pitchFamily="34" charset="0"/>
              </a:rPr>
              <a:t>Rajat Subhra Chakraborty</a:t>
            </a:r>
          </a:p>
          <a:p>
            <a:pPr marL="0" indent="0" algn="ctr">
              <a:buNone/>
            </a:pPr>
            <a:r>
              <a:rPr lang="en-US" sz="1400" b="1" dirty="0">
                <a:latin typeface="Arial Black" panose="020B0A04020102020204" pitchFamily="34" charset="0"/>
              </a:rPr>
              <a:t>Professor</a:t>
            </a:r>
          </a:p>
          <a:p>
            <a:pPr marL="0" indent="0" algn="ctr">
              <a:buNone/>
            </a:pPr>
            <a:r>
              <a:rPr lang="en-US" sz="1400" b="1" dirty="0">
                <a:latin typeface="Arial Black" panose="020B0A04020102020204" pitchFamily="34" charset="0"/>
              </a:rPr>
              <a:t>Dept. of Computer Science and Engineering</a:t>
            </a:r>
          </a:p>
          <a:p>
            <a:pPr marL="0" indent="0" algn="ctr">
              <a:buNone/>
            </a:pPr>
            <a:r>
              <a:rPr lang="en-US" sz="1400" b="1" dirty="0">
                <a:latin typeface="Arial Black" panose="020B0A04020102020204" pitchFamily="34" charset="0"/>
              </a:rPr>
              <a:t>IIT Kharagpur</a:t>
            </a:r>
          </a:p>
          <a:p>
            <a:pPr marL="0" indent="0" algn="ctr">
              <a:buNone/>
            </a:pPr>
            <a:r>
              <a:rPr lang="en-US" sz="1400" b="1" dirty="0">
                <a:latin typeface="Arial Black" panose="020B0A04020102020204" pitchFamily="34" charset="0"/>
                <a:hlinkClick r:id="rId3"/>
              </a:rPr>
              <a:t>rschakraborty@cse.iitkgp.ac.in</a:t>
            </a:r>
            <a:r>
              <a:rPr lang="en-US" sz="1400" b="1" dirty="0">
                <a:latin typeface="Arial Black" panose="020B0A04020102020204" pitchFamily="34" charset="0"/>
              </a:rPr>
              <a:t> </a:t>
            </a:r>
          </a:p>
          <a:p>
            <a:pPr marL="0" indent="0" algn="ctr">
              <a:buNone/>
            </a:pPr>
            <a:endParaRPr lang="en-US" sz="1400" b="1" dirty="0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0" y="475945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Kharagpur ×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F04D3278-DDD6-46E7-815B-6A363445C13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212" y="3045920"/>
            <a:ext cx="1106651" cy="1238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57;p13">
            <a:extLst>
              <a:ext uri="{FF2B5EF4-FFF2-40B4-BE49-F238E27FC236}">
                <a16:creationId xmlns:a16="http://schemas.microsoft.com/office/drawing/2014/main" id="{07F7E9C1-5AE0-48E5-A3A0-446C75D1DF9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319" r="21419" b="5553"/>
          <a:stretch/>
        </p:blipFill>
        <p:spPr>
          <a:xfrm>
            <a:off x="7706841" y="3247333"/>
            <a:ext cx="1031000" cy="115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&amp; Learning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4114800" cy="502920"/>
          </a:xfrm>
          <a:prstGeom prst="rect">
            <a:avLst/>
          </a:prstGeom>
          <a:solidFill>
            <a:srgbClr val="EEF0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7863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Landscape as Decision Framework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07592"/>
            <a:ext cx="4114800" cy="502920"/>
          </a:xfrm>
          <a:prstGeom prst="rect">
            <a:avLst/>
          </a:prstGeom>
          <a:solidFill>
            <a:srgbClr val="EEF0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624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1344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 with INR Examples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865376"/>
            <a:ext cx="4114800" cy="502920"/>
          </a:xfrm>
          <a:prstGeom prst="rect">
            <a:avLst/>
          </a:prstGeom>
          <a:solidFill>
            <a:srgbClr val="EEF0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1901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Failure Modes — Hallucination &amp; Calibration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749808"/>
            <a:ext cx="4114800" cy="502920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046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0368" y="7863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Development Tooling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307592"/>
            <a:ext cx="4114800" cy="502920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624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0368" y="1344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Pair-Programming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865376"/>
            <a:ext cx="4114800" cy="502920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1901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Build-vs-Buy Framework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2706624"/>
            <a:ext cx="8412480" cy="658368"/>
          </a:xfrm>
          <a:prstGeom prst="rect">
            <a:avLst/>
          </a:prstGeom>
          <a:solidFill>
            <a:srgbClr val="FFF8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743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29992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you will be able to: evaluate foundation models on cost, capability, and risk; establish AI pair-programming workflows; and apply vibe coding discipline in production.</a:t>
            </a:r>
            <a:endParaRPr lang="en-US" sz="1200" dirty="0"/>
          </a:p>
        </p:txBody>
      </p:sp>
      <p:pic>
        <p:nvPicPr>
          <p:cNvPr id="34" name="Google Shape;56;p13">
            <a:extLst>
              <a:ext uri="{FF2B5EF4-FFF2-40B4-BE49-F238E27FC236}">
                <a16:creationId xmlns:a16="http://schemas.microsoft.com/office/drawing/2014/main" id="{CD3A304E-6B7A-4192-A030-89651C817D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Model Ecosystem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model is a large-scale neural network pre-trained on broad data that can be adapted (fine-tuned or prompted) for many downstream tasks.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943600" cy="694944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35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(API-only)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9105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GPT-4.1, Claude Sonnet 4.6, Gemini 1.5 Pro — closed weights, highest capability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5943600" cy="694944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396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3, Mistral, Falcon — downloadable weights, self-hosted or cloud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5943600" cy="694944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44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/ Fine-tuned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Domain-specific: MedPaLM, CodeLlama, StarCoder — optimized for verticals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Model choice is an engineering decision — not just a hype choice.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Stanford AI Index 2025</a:t>
            </a:r>
            <a:endParaRPr lang="en-US" sz="900" dirty="0"/>
          </a:p>
        </p:txBody>
      </p:sp>
      <p:pic>
        <p:nvPicPr>
          <p:cNvPr id="17" name="Google Shape;56;p13">
            <a:extLst>
              <a:ext uri="{FF2B5EF4-FFF2-40B4-BE49-F238E27FC236}">
                <a16:creationId xmlns:a16="http://schemas.microsoft.com/office/drawing/2014/main" id="{3589DE32-4F92-4473-8BB7-AF99F21A1C7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of Model Selection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2606040" cy="3474720"/>
          </a:xfrm>
          <a:prstGeom prst="rect">
            <a:avLst/>
          </a:prstGeom>
          <a:solidFill>
            <a:srgbClr val="FFF9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2240280" cy="228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99032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pricing (per 1M tokens)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Hosting &amp; inference cost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3288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window size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099816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Batching discounts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777240"/>
            <a:ext cx="2606040" cy="3474720"/>
          </a:xfrm>
          <a:prstGeom prst="rect">
            <a:avLst/>
          </a:prstGeom>
          <a:solidFill>
            <a:srgbClr val="E6F4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868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91840" y="1280160"/>
            <a:ext cx="2240280" cy="228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399032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 scores (MMLU, HumanEval)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1965960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length &amp; retrieval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253288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Multimodal support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3099816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Instruction-following quality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52160" y="777240"/>
            <a:ext cx="2606040" cy="3474720"/>
          </a:xfrm>
          <a:prstGeom prst="rect">
            <a:avLst/>
          </a:prstGeom>
          <a:solidFill>
            <a:srgbClr val="FFE6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868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035040" y="1280160"/>
            <a:ext cx="2240280" cy="228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399032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privacy &amp; residency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89320" y="1965960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Hallucination 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89320" y="253288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 / licensing constraints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89320" y="3099816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lock-in &amp; SLAs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42569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Best-practice: Build a scorecard weighting all three pillars before committing to a provider.</a:t>
            </a:r>
            <a:endParaRPr lang="en-US" sz="1100" dirty="0"/>
          </a:p>
        </p:txBody>
      </p:sp>
      <p:pic>
        <p:nvPicPr>
          <p:cNvPr id="27" name="Google Shape;56;p13">
            <a:extLst>
              <a:ext uri="{FF2B5EF4-FFF2-40B4-BE49-F238E27FC236}">
                <a16:creationId xmlns:a16="http://schemas.microsoft.com/office/drawing/2014/main" id="{FE3076BB-0AA4-420A-AA6F-F53009CCE6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Categories: Frontier vs Open-Weight vs Specialized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1600200" cy="384048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749808"/>
            <a:ext cx="2011680" cy="384048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804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(Closed)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749808"/>
            <a:ext cx="2011680" cy="384048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804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749808"/>
            <a:ext cx="2011680" cy="384048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804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133856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887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65960" y="113385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188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released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113385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1188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downloadable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13385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88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open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1517904"/>
            <a:ext cx="16002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57276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65960" y="1517904"/>
            <a:ext cx="2011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15727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API only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0" y="1517904"/>
            <a:ext cx="2011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15727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/ cloud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1517904"/>
            <a:ext cx="2011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5727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or self-host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1901952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95681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scale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65960" y="190195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1956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(per-token fee)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23360" y="190195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69080" y="1956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(hardware amortized)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190195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9568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286000"/>
            <a:ext cx="16002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34086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65960" y="2286000"/>
            <a:ext cx="2011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11680" y="23408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data sent to vendor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023360" y="2286000"/>
            <a:ext cx="2011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69080" y="23408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80760" y="2286000"/>
            <a:ext cx="2011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23408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host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2670048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72491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65960" y="267004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0" y="27249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fine-tune API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023360" y="267004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69080" y="27249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on own data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080760" y="267004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27249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Domain-tuned out-of-box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3054096"/>
            <a:ext cx="16002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1089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965960" y="3054096"/>
            <a:ext cx="2011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0" y="31089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tasks, prototyping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023360" y="3054096"/>
            <a:ext cx="2011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69080" y="31089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Regulated, large-scale apps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080760" y="3054096"/>
            <a:ext cx="201168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31089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domains</a:t>
            </a:r>
            <a:endParaRPr lang="en-US" sz="1100" dirty="0"/>
          </a:p>
        </p:txBody>
      </p:sp>
      <p:pic>
        <p:nvPicPr>
          <p:cNvPr id="61" name="Google Shape;56;p13">
            <a:extLst>
              <a:ext uri="{FF2B5EF4-FFF2-40B4-BE49-F238E27FC236}">
                <a16:creationId xmlns:a16="http://schemas.microsoft.com/office/drawing/2014/main" id="{4C132608-2F2E-4152-BF9B-47296C3AE0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 Comparison (2026)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137160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822960"/>
            <a:ext cx="12984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749808"/>
            <a:ext cx="109728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73936" y="822960"/>
            <a:ext cx="10241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749808"/>
            <a:ext cx="91440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822960"/>
            <a:ext cx="8412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$/1M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749808"/>
            <a:ext cx="100584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822960"/>
            <a:ext cx="9326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$/1M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749808"/>
            <a:ext cx="100584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822960"/>
            <a:ext cx="9326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749808"/>
            <a:ext cx="265176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0176" y="822960"/>
            <a:ext cx="25786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143000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119786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7360" y="1143000"/>
            <a:ext cx="109728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73936" y="1197864"/>
            <a:ext cx="1024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0360" y="1143000"/>
            <a:ext cx="9144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16936" y="1197864"/>
            <a:ext cx="841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1143000"/>
            <a:ext cx="100584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7056" y="1197864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1143000"/>
            <a:ext cx="100584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1197864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1143000"/>
            <a:ext cx="265176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0176" y="1197864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reasoning, coding, tool-use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1536192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" y="1591056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Mini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737360" y="1536192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73936" y="1591056"/>
            <a:ext cx="1024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80360" y="1536192"/>
            <a:ext cx="914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16936" y="1591056"/>
            <a:ext cx="841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1536192"/>
            <a:ext cx="1005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77056" y="1591056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1536192"/>
            <a:ext cx="1005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1591056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1536192"/>
            <a:ext cx="2651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0176" y="1591056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Cost-efficient, fast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1929384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" y="1984248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737360" y="1929384"/>
            <a:ext cx="109728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73936" y="1984248"/>
            <a:ext cx="1024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80360" y="1929384"/>
            <a:ext cx="9144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16936" y="1984248"/>
            <a:ext cx="841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840480" y="1929384"/>
            <a:ext cx="100584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77056" y="1984248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92040" y="1929384"/>
            <a:ext cx="100584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1984248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tokens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43600" y="1929384"/>
            <a:ext cx="265176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0176" y="1984248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context, nuanced writing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2322576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" y="2377440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737360" y="2322576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73936" y="2377440"/>
            <a:ext cx="1024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880360" y="2322576"/>
            <a:ext cx="914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16936" y="2377440"/>
            <a:ext cx="841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840480" y="2322576"/>
            <a:ext cx="1005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77056" y="2377440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92040" y="2322576"/>
            <a:ext cx="1005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28616" y="2377440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tokens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43600" y="2322576"/>
            <a:ext cx="2651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80176" y="237744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+ affordability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0040" y="2715768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6616" y="2770632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737360" y="2715768"/>
            <a:ext cx="109728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73936" y="2770632"/>
            <a:ext cx="1024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880360" y="2715768"/>
            <a:ext cx="9144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16936" y="2770632"/>
            <a:ext cx="841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$3.50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840480" y="2715768"/>
            <a:ext cx="100584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77056" y="2770632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892040" y="2715768"/>
            <a:ext cx="100584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28616" y="2770632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tokens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943600" y="2715768"/>
            <a:ext cx="265176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80176" y="2770632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context, multimodal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20040" y="3108960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56616" y="316382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70B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737360" y="3108960"/>
            <a:ext cx="10972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73936" y="3163824"/>
            <a:ext cx="1024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(OSS)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880360" y="3108960"/>
            <a:ext cx="914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916936" y="3163824"/>
            <a:ext cx="841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840480" y="3108960"/>
            <a:ext cx="1005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877056" y="3163824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892040" y="3108960"/>
            <a:ext cx="1005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28616" y="3163824"/>
            <a:ext cx="9326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943600" y="3108960"/>
            <a:ext cx="2651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80176" y="3163824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Open-weight, full control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Pricing Page</a:t>
            </a:r>
            <a:endParaRPr lang="en-US" sz="900" dirty="0"/>
          </a:p>
        </p:txBody>
      </p:sp>
      <p:pic>
        <p:nvPicPr>
          <p:cNvPr id="90" name="Google Shape;56;p13">
            <a:extLst>
              <a:ext uri="{FF2B5EF4-FFF2-40B4-BE49-F238E27FC236}">
                <a16:creationId xmlns:a16="http://schemas.microsoft.com/office/drawing/2014/main" id="{588D6D16-3099-456E-BBD2-175F4A03DA8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Benchmarks: MMLU, HumanEval, MATH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give a standardized measure of model capability across knowledge, code, and math.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6035040" cy="877824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6187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Multitask Language Understanding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Tests knowledge across 57 subjects: law, medicine, math, history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810512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GPT-4.1: 92%  |  Claude Sonnet: 89%  |  Llama 3 70B: 82%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6035040" cy="877824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6771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257860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Python function completion from docstrings (164 problems)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816352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GPT-4.1: 90%  |  Claude Sonnet: 85%  |  Llama 3 70B: 72%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6035040" cy="877824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735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math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58444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Challenging math problems across algebra, geometry, number theory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822192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GPT-4.1: 87%  |  Claude Sonnet: 80%  |  Llama 3 70B: 65%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801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Benchmarks can be gamed — always test on your own task distribution.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Papers With Code - LLM Benchmarks</a:t>
            </a:r>
            <a:endParaRPr lang="en-US" sz="900" dirty="0"/>
          </a:p>
        </p:txBody>
      </p:sp>
      <p:pic>
        <p:nvPicPr>
          <p:cNvPr id="23" name="Google Shape;56;p13">
            <a:extLst>
              <a:ext uri="{FF2B5EF4-FFF2-40B4-BE49-F238E27FC236}">
                <a16:creationId xmlns:a16="http://schemas.microsoft.com/office/drawing/2014/main" id="{DF0E27FB-FA7E-45BF-9739-52878BD05CB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&amp; Latency Trade-offs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1261872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1M tokens  |  Latency: Medium  |  Cost trend: ↑ at scale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822960"/>
            <a:ext cx="4023360" cy="1261872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2984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200K tokens  |  Latency: Low-Medium  |  Cost trend: ↑ at scale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023360" cy="126187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27157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2M tokens  |  Latency: Medium-High  |  Cost trend: Moderate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240280"/>
            <a:ext cx="4023360" cy="126187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70B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27157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128K tokens  |  Latency: Self-host dependent  |  Cost trend: Low (infra only)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59" y="3730752"/>
            <a:ext cx="846914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Context window ≠ usable context. Attention degrades at ends of long contexts ("lost in the middle" effect).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Liu et al., Lost in the Middle (2023)</a:t>
            </a:r>
            <a:endParaRPr lang="en-US" sz="900" dirty="0"/>
          </a:p>
        </p:txBody>
      </p:sp>
      <p:pic>
        <p:nvPicPr>
          <p:cNvPr id="19" name="Google Shape;56;p13">
            <a:extLst>
              <a:ext uri="{FF2B5EF4-FFF2-40B4-BE49-F238E27FC236}">
                <a16:creationId xmlns:a16="http://schemas.microsoft.com/office/drawing/2014/main" id="{8CBFEB8D-8E7A-4E9C-8B11-BBD099F5CB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 When to Use Which Model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86384"/>
            <a:ext cx="7315200" cy="530352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Need best reasoning / complex agent tasks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83480" y="841248"/>
            <a:ext cx="25294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GPT-4.1 or Claude Opus 4.7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822960"/>
            <a:ext cx="2286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99032"/>
            <a:ext cx="731520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53896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High-volume, cost-sensitive production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79" y="1453896"/>
            <a:ext cx="248927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GPT-4.1 Mini / Claude Haiku 4.5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1435608"/>
            <a:ext cx="2286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11680"/>
            <a:ext cx="7315200" cy="53035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66544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Very long documents (&gt;200K tokens)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06654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Gemini 1.5 Pro (2M context)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2048256"/>
            <a:ext cx="2286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24328"/>
            <a:ext cx="7315200" cy="530352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7919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Data privacy / on-premise required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6791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Llama 3 70B self-hosted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2660904"/>
            <a:ext cx="2286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36976"/>
            <a:ext cx="7338678" cy="530352"/>
          </a:xfrm>
          <a:prstGeom prst="rect">
            <a:avLst/>
          </a:prstGeom>
          <a:solidFill>
            <a:srgbClr val="F3E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91840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Domain-specific fine-tuning at scale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291840"/>
            <a:ext cx="277347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Open-weight base + custom fine-tune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3273552"/>
            <a:ext cx="2286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49624"/>
            <a:ext cx="7338678" cy="530352"/>
          </a:xfrm>
          <a:prstGeom prst="rect">
            <a:avLst/>
          </a:prstGeom>
          <a:solidFill>
            <a:srgbClr val="E0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0448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Rapid prototype / exploration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904488"/>
            <a:ext cx="30780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Start with GPT-4.1 Mini (cheap + fast)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886200"/>
            <a:ext cx="2286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29" name="Google Shape;56;p13">
            <a:extLst>
              <a:ext uri="{FF2B5EF4-FFF2-40B4-BE49-F238E27FC236}">
                <a16:creationId xmlns:a16="http://schemas.microsoft.com/office/drawing/2014/main" id="{94D67384-AC69-4613-BC1E-EDD05A7A0D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Models: Cost, Control, Customization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Open-Weight?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per-token API fees — amortize hardware cost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sovereignty (no data leaves premises)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fine-tuning on proprietary datasets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ecosystem: LoRA adapters, GGUF quants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offline (air-gapped environments)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749808"/>
            <a:ext cx="4206240" cy="2743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841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Scale: 1B tokens/month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12618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(input)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12618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719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(input)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1719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2176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70B (A100 cloud)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2176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~$450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6334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70B (owned GPU)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26334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~$80 (power+)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 Requires MLOps expertise, GPU infra, and model management.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 AI Llama 3</a:t>
            </a:r>
            <a:endParaRPr lang="en-US" sz="900" dirty="0"/>
          </a:p>
        </p:txBody>
      </p:sp>
      <p:pic>
        <p:nvPicPr>
          <p:cNvPr id="19" name="Google Shape;56;p13">
            <a:extLst>
              <a:ext uri="{FF2B5EF4-FFF2-40B4-BE49-F238E27FC236}">
                <a16:creationId xmlns:a16="http://schemas.microsoft.com/office/drawing/2014/main" id="{88C023AC-6B82-4F9D-BB28-25757166619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Foundation models fall into three tiers: Frontier, Open-Weight, Specialized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Selection requires balancing Cost, Capability, and Risk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39696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Context window ≠ usable context — attention degrades at extremes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0662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Open-weight models can be 5–25× cheaper at scale with full data control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7355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Benchmarks (MMLU, HumanEval) are guides — always validate on your task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Which model tier fits your next project? Why?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Token?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process text as tokens — </a:t>
            </a: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</a:t>
            </a:r>
            <a:r>
              <a:rPr lang="en-US" sz="14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</a:t>
            </a: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typically 3–4 characters each.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6583680" cy="530352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"Tokenization"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0" y="12801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 | 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tokens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6583680" cy="530352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20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"Hello, world!"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Hello | , | world | 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920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tokens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658368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60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"₹"  (rupee sign)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0" y="25603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Depends on tokenizer (UTF-8 bytes)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2560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tokens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59" y="3200400"/>
            <a:ext cx="7315199" cy="731520"/>
          </a:xfrm>
          <a:prstGeom prst="rect">
            <a:avLst/>
          </a:prstGeom>
          <a:solidFill>
            <a:srgbClr val="FFF8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529584"/>
            <a:ext cx="71323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words ≈ 1,333 tokens  |  1 page of text ≈ 700–800 tokens  |  Average API call: 500–2,000 tokens</a:t>
            </a:r>
            <a:endParaRPr lang="en-US" sz="1300" dirty="0"/>
          </a:p>
        </p:txBody>
      </p:sp>
      <p:pic>
        <p:nvPicPr>
          <p:cNvPr id="22" name="Google Shape;56;p13">
            <a:extLst>
              <a:ext uri="{FF2B5EF4-FFF2-40B4-BE49-F238E27FC236}">
                <a16:creationId xmlns:a16="http://schemas.microsoft.com/office/drawing/2014/main" id="{7908EF7C-1986-470E-97CA-737DAD7EA93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Pricing: Per-Million Token Rates (USD)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228600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749808"/>
            <a:ext cx="137160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822960"/>
            <a:ext cx="1280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69080" y="749808"/>
            <a:ext cx="118872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822960"/>
            <a:ext cx="10972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/1M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749808"/>
            <a:ext cx="118872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822960"/>
            <a:ext cx="10972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/1M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749808"/>
            <a:ext cx="164592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822960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Output/Input Ratio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143000"/>
            <a:ext cx="22860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20700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1143000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120700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69080" y="1143000"/>
            <a:ext cx="11887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120700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1143000"/>
            <a:ext cx="11887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20700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1143000"/>
            <a:ext cx="16459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20700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536192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60020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Mini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51760" y="1536192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16002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69080" y="1536192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60020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1536192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160020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1536192"/>
            <a:ext cx="1645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160020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1929384"/>
            <a:ext cx="22860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199339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Nano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1929384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480" y="199339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069080" y="1929384"/>
            <a:ext cx="11887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199339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1929384"/>
            <a:ext cx="11887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199339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37960" y="1929384"/>
            <a:ext cx="16459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199339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2322576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38658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4.7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51760" y="2322576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480" y="238658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069080" y="232257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0" y="23865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03520" y="232257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9240" y="23865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37960" y="2322576"/>
            <a:ext cx="1645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238658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0040" y="2715768"/>
            <a:ext cx="22860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277977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51760" y="2715768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97480" y="277977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069080" y="2715768"/>
            <a:ext cx="11887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0" y="277977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303520" y="2715768"/>
            <a:ext cx="11887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49240" y="277977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537960" y="2715768"/>
            <a:ext cx="16459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83680" y="277977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20040" y="3108960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317296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651760" y="3108960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97480" y="317296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069080" y="310896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0" y="317296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303520" y="310896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49240" y="317296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$5.00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537960" y="3108960"/>
            <a:ext cx="1645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83680" y="317296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65760" y="42793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 cost 4–5× more than input tokens. Minimize verbose responses.</a:t>
            </a:r>
            <a:endParaRPr lang="en-US" sz="1100" dirty="0"/>
          </a:p>
        </p:txBody>
      </p:sp>
      <p:pic>
        <p:nvPicPr>
          <p:cNvPr id="77" name="Google Shape;56;p13">
            <a:extLst>
              <a:ext uri="{FF2B5EF4-FFF2-40B4-BE49-F238E27FC236}">
                <a16:creationId xmlns:a16="http://schemas.microsoft.com/office/drawing/2014/main" id="{CA8D512D-7CFA-46A7-8A14-6119011F74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Pricing in INR (1 USD ≈ ₹84)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219456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813816"/>
            <a:ext cx="2121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749808"/>
            <a:ext cx="137160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6896" y="813816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Input/1M (USD)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749808"/>
            <a:ext cx="137160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14216" y="813816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Input/1M (INR)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749808"/>
            <a:ext cx="164592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31536" y="813816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Output/1M (USD)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749808"/>
            <a:ext cx="1463040" cy="393192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23176" y="81381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Output/1M (INR)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143000"/>
            <a:ext cx="219456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1207008"/>
            <a:ext cx="2121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1143000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1207008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1143000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14216" y="1207008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1143000"/>
            <a:ext cx="16459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207008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86600" y="1143000"/>
            <a:ext cx="146304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23176" y="1207008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₹672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536192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" y="1600200"/>
            <a:ext cx="2121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Mini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1536192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96896" y="1600200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77640" y="1536192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14216" y="1600200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1536192"/>
            <a:ext cx="1645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31536" y="1600200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86600" y="1536192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23176" y="16002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1929384"/>
            <a:ext cx="219456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1993392"/>
            <a:ext cx="2121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Nano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0" y="1929384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96896" y="1993392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77640" y="1929384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14216" y="1993392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₹8.40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94960" y="1929384"/>
            <a:ext cx="16459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31536" y="1993392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86600" y="1929384"/>
            <a:ext cx="146304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23176" y="1993392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2322576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2386584"/>
            <a:ext cx="2121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0" y="2322576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96896" y="238658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77640" y="2322576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14216" y="238658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94960" y="2322576"/>
            <a:ext cx="1645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31536" y="2386584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086600" y="2322576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23176" y="2386584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₹1,260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0040" y="2715768"/>
            <a:ext cx="219456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" y="2779776"/>
            <a:ext cx="2121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60320" y="2715768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96896" y="2779776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977640" y="2715768"/>
            <a:ext cx="13716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14216" y="2779776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394960" y="2715768"/>
            <a:ext cx="16459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2779776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086600" y="2715768"/>
            <a:ext cx="146304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23176" y="277977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65760" y="3839277"/>
            <a:ext cx="8183880" cy="832103"/>
          </a:xfrm>
          <a:prstGeom prst="rect">
            <a:avLst/>
          </a:prstGeom>
          <a:solidFill>
            <a:srgbClr val="FFF0E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5739" y="3870007"/>
            <a:ext cx="8138641" cy="857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Context: At ₹252/1M input tokens (Sonnet 4.6), calling 1M tokens/day costs ~₹7,560/month —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comparable to one junior developer day.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Falling INR cost affects the calculations</a:t>
            </a:r>
            <a:endParaRPr lang="en-US" sz="1200" dirty="0"/>
          </a:p>
        </p:txBody>
      </p:sp>
      <p:pic>
        <p:nvPicPr>
          <p:cNvPr id="67" name="Google Shape;56;p13">
            <a:extLst>
              <a:ext uri="{FF2B5EF4-FFF2-40B4-BE49-F238E27FC236}">
                <a16:creationId xmlns:a16="http://schemas.microsoft.com/office/drawing/2014/main" id="{C4F9AF9A-123B-4104-92E4-9FCCE2686B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Cost Examples: API Calls at Different Scales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7131702" cy="685800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9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calls × 2K tokens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859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Mini (input)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× 2,000 = 2M tokens  →  2 × $0.40 = $0.80  →  ₹67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89611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₹67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1609344"/>
            <a:ext cx="7131702" cy="685800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calls × 2K tokens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(input)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19933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× 2,000 = 20M tokens  →  20 × $2.00 = $40  →  ₹3,360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70078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₹3,360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65760" y="2414016"/>
            <a:ext cx="7131702" cy="68580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calls × 4K tokens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(input)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7980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× 4,000 = 400M tokens  →  400 × $3.00 = $1,200  →  ₹1,00,800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50545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₹1,00,800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65760" y="3218688"/>
            <a:ext cx="7131702" cy="68580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73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batch: 1M output tokens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3273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6027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× $8.00 = $8/day  →  ₹672/day  →  ₹20,160/month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331012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₹20,160/month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Pricing</a:t>
            </a:r>
            <a:endParaRPr lang="en-US" sz="900" dirty="0"/>
          </a:p>
        </p:txBody>
      </p:sp>
      <p:pic>
        <p:nvPicPr>
          <p:cNvPr id="26" name="Google Shape;56;p13">
            <a:extLst>
              <a:ext uri="{FF2B5EF4-FFF2-40B4-BE49-F238E27FC236}">
                <a16:creationId xmlns:a16="http://schemas.microsoft.com/office/drawing/2014/main" id="{3C16010F-7A1D-44EC-B69D-28749157DA3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Costs: Short vs Long Prompts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01752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Prompt (500 tokens)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"Summarize this paragraph"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GPT-4.1: 500 × $2/1M = $0.001  (₹0.08)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4.6: 500 × $3/1M = $0.0015  (₹0.13)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calls/day: GPT-4.1 = $1/day = ₹84/day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160520" cy="3017520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8686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Prompt (50K tokens)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"Analyze this 200-page legal document"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627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GPT-4.1: 50K × $2/1M = $0.10  (₹8.40)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4.6: 50K × $3/1M = $0.15  (₹12.60)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3042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calls/day: GPT-4.1 = $100/day = ₹8,400/day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913632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Long-context calls can be 100× more expensive. Chunk documents; use RAG.</a:t>
            </a:r>
            <a:endParaRPr lang="en-US" sz="1200" dirty="0"/>
          </a:p>
        </p:txBody>
      </p:sp>
      <p:pic>
        <p:nvPicPr>
          <p:cNvPr id="18" name="Google Shape;56;p13">
            <a:extLst>
              <a:ext uri="{FF2B5EF4-FFF2-40B4-BE49-F238E27FC236}">
                <a16:creationId xmlns:a16="http://schemas.microsoft.com/office/drawing/2014/main" id="{0901A096-94B1-4CA7-A2C6-6BC21993E15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Batching &amp; Cost Reduction Strategies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86384"/>
            <a:ext cx="4114800" cy="932688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9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Prompt Caching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static system prompts. OpenAI charges 50% on cache hits; Anthropic 90% discount on cached input.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996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 to 90% on repeated system prompts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86384"/>
            <a:ext cx="4114800" cy="932688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59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Batch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1521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tasks asynchronously in bulk (OpenAI Batch API: 50% discount for &lt;24h turnaround).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996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50% cost reduction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10512"/>
            <a:ext cx="4114800" cy="932688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83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Routing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176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simple queries to Nano/Haiku; reserve Opus/GPT-4.1 for complex tasks.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5237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60–80% overall cost reduction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810512"/>
            <a:ext cx="4114800" cy="932688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883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 Compression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176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model: "Be concise, max 200 words." Fewer output tokens = lower cost.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5237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20–40% output token savings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Batch API Docs</a:t>
            </a:r>
            <a:endParaRPr lang="en-US" sz="900" dirty="0"/>
          </a:p>
        </p:txBody>
      </p:sp>
      <p:pic>
        <p:nvPicPr>
          <p:cNvPr id="22" name="Google Shape;56;p13">
            <a:extLst>
              <a:ext uri="{FF2B5EF4-FFF2-40B4-BE49-F238E27FC236}">
                <a16:creationId xmlns:a16="http://schemas.microsoft.com/office/drawing/2014/main" id="{BB5E7C09-6C25-4C00-9C26-6E72E4B65F8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Ownership: Beyond API Fees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token cost is only ~30–50% of total LLM deployment cost. Hidden costs add up.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Inference Fees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61872"/>
            <a:ext cx="2560320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1888" y="11704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1704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costs (input + output)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DevOps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755648"/>
            <a:ext cx="1024128" cy="2011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16642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16642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balancers, VPCs, observability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15798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Eval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2249424"/>
            <a:ext cx="768096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215798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1579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time for prompt tuning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51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Vector DB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743200"/>
            <a:ext cx="614477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16045" y="26517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6517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API + vector store costs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1455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Guardrails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3236976"/>
            <a:ext cx="512064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3632" y="314553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14553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APIs, logging, alerts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6393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(if applicable)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3730752"/>
            <a:ext cx="768096" cy="2011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9664" y="3639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63931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compute + storage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1148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Budget 2× your expected API cost as your true TCO.</a:t>
            </a:r>
            <a:endParaRPr lang="en-US" sz="1200" dirty="0"/>
          </a:p>
        </p:txBody>
      </p:sp>
      <p:pic>
        <p:nvPicPr>
          <p:cNvPr id="31" name="Google Shape;56;p13">
            <a:extLst>
              <a:ext uri="{FF2B5EF4-FFF2-40B4-BE49-F238E27FC236}">
                <a16:creationId xmlns:a16="http://schemas.microsoft.com/office/drawing/2014/main" id="{D5BA497E-DF05-4BF1-B590-E84362815F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Summary: Token Economics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Tokens ≈ 3–4 characters; 1K words ≈ 1,333 tokens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91056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Output tokens cost 4–5× more than input — minimize verbose responses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579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 scale (1M tokens/day): GPT-4.1 Mini input = $0.40 = ₹34/day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2491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Caching &amp; Batching can reduce costs by 50–90%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True TCO is 2× raw API fees when infra &amp; engineering time are included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731741"/>
            <a:ext cx="8229600" cy="991629"/>
          </a:xfrm>
          <a:prstGeom prst="rect">
            <a:avLst/>
          </a:prstGeom>
          <a:solidFill>
            <a:srgbClr val="0D1450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Calculator: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= calls × avg_tokens; 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cost_USD</a:t>
            </a:r>
            <a:r>
              <a:rPr lang="en-US" sz="1200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tokens / 1,000,000 × rate; 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cost_INR</a:t>
            </a:r>
            <a:r>
              <a:rPr lang="en-US" sz="1200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cost_USD × 84</a:t>
            </a:r>
            <a:endParaRPr lang="en-US" sz="1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Hallucination?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736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Hallucination: when a language model generates text that is </a:t>
            </a: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factually incorrect, fabricated, or not grounded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its input context — but stated confidently as fact.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59" y="1353312"/>
            <a:ext cx="7366481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57399" y="1444752"/>
            <a:ext cx="57953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Eiffel Tower was built in 1887." (Actually: 1887–1889 construction; 1889 opening)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7366480" cy="64008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"Dr. Jane Smith published a paper on X in 2022." (Person does not exist)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7366480" cy="64008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44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57400" y="2944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"Take 500mg of drug X for this condition." (Wrong dosage/drug)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59" y="4206240"/>
            <a:ext cx="769084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Hallucination is not a bug to be "patched" — it is an inherent property of probabilistic token prediction.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 et al., Survey of Hallucination in NLG (2022)</a:t>
            </a:r>
            <a:endParaRPr lang="en-US" sz="900" dirty="0"/>
          </a:p>
        </p:txBody>
      </p:sp>
      <p:pic>
        <p:nvPicPr>
          <p:cNvPr id="17" name="Google Shape;56;p13">
            <a:extLst>
              <a:ext uri="{FF2B5EF4-FFF2-40B4-BE49-F238E27FC236}">
                <a16:creationId xmlns:a16="http://schemas.microsoft.com/office/drawing/2014/main" id="{62CCBD38-C3A9-494B-B1B6-3E74D157779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Hallucination: Factual, Temporal, Retrieval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86384"/>
            <a:ext cx="6035040" cy="1170432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Hallucination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asserts a false fact with confidence. No grounding in training data.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"Python was created by Guido van Rossum in 1985." (Actually 1991)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Ground with RAG + fact-checking layer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6035040" cy="117043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Hallucination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unaware of events after its training cutoff; conflates past/present.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7614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"The CEO of OpenAI is Sam Altman." (True as of training, may be outdated)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Inject current date; use retrieval for time-sensitive queries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6035040" cy="117043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Hallucination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38039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RAG systems, model ignores retrieved context and invents instead.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0599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"According to the document, revenue was $5M." (Document says $50M)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315968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Faithfulness scoring; citation forcing with structured prompts</a:t>
            </a:r>
            <a:endParaRPr lang="en-US" sz="1100" dirty="0"/>
          </a:p>
        </p:txBody>
      </p:sp>
      <p:pic>
        <p:nvPicPr>
          <p:cNvPr id="20" name="Google Shape;56;p13">
            <a:extLst>
              <a:ext uri="{FF2B5EF4-FFF2-40B4-BE49-F238E27FC236}">
                <a16:creationId xmlns:a16="http://schemas.microsoft.com/office/drawing/2014/main" id="{770F1362-1822-41EE-98EC-79296DA0BD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Causes: Why LLMs Hallucinate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0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7" y="777240"/>
            <a:ext cx="6645711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832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knowledge compression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832104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is compressed into weights — lossy compression leads to fabrication when recall fails.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636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808" y="1490472"/>
            <a:ext cx="6645710" cy="603504"/>
          </a:xfrm>
          <a:prstGeom prst="rect">
            <a:avLst/>
          </a:prstGeom>
          <a:solidFill>
            <a:srgbClr val="F0F0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545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 objective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1545336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optimize for plausible continuations, not factual accuracy. A confident wrong answer can be more "probable" than uncertainty.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276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9807" y="2203704"/>
            <a:ext cx="6645709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258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noise &amp; conflicts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25856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Web-scraped data contains contradictions, errors, and outdated information absorbed into weights.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990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9808" y="2916936"/>
            <a:ext cx="6645710" cy="603504"/>
          </a:xfrm>
          <a:prstGeom prst="rect">
            <a:avLst/>
          </a:prstGeom>
          <a:solidFill>
            <a:srgbClr val="F0F0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bias in decoding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2971800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and sampling can amplify early errors — once a wrong path is chosen, the model commits to it.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" y="3630168"/>
            <a:ext cx="664571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685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ambiguity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3685032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Underspecified prompts force the model to "fill in the blanks" with plausible but invented content.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Maynez et al., Faithfulness in Abstractive Summarization</a:t>
            </a:r>
            <a:endParaRPr lang="en-US" sz="900" dirty="0"/>
          </a:p>
        </p:txBody>
      </p:sp>
      <p:pic>
        <p:nvPicPr>
          <p:cNvPr id="26" name="Google Shape;56;p13">
            <a:extLst>
              <a:ext uri="{FF2B5EF4-FFF2-40B4-BE49-F238E27FC236}">
                <a16:creationId xmlns:a16="http://schemas.microsoft.com/office/drawing/2014/main" id="{5573B5BE-6C03-4478-930A-AD2CF0C8285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Calibration: What It Means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well-calibrated model's expressed confidence matches its actual accuracy. An overconfident model says "I'm sure" when it's wrong.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229600" cy="640080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 (ECE):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measures average |confidence − accuracy| across probability buckets. Lower ECE = better calibrated.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603504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396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Well-calibrated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1396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confident → correct ~90% of the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88336"/>
            <a:ext cx="6035040" cy="54864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980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Overconfident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7980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confident → correct only 60% of the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6035040" cy="54864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Underconfident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3456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confident → correct 85% of the 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11480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class models are moderately overconfident; Llama models tend toward underconfidence.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Kadavath et al., Language Models (Mostly) Know What They Know</a:t>
            </a:r>
            <a:endParaRPr lang="en-US" sz="900" dirty="0"/>
          </a:p>
        </p:txBody>
      </p:sp>
      <p:pic>
        <p:nvPicPr>
          <p:cNvPr id="20" name="Google Shape;56;p13">
            <a:extLst>
              <a:ext uri="{FF2B5EF4-FFF2-40B4-BE49-F238E27FC236}">
                <a16:creationId xmlns:a16="http://schemas.microsoft.com/office/drawing/2014/main" id="{9FCE9483-013D-405D-8043-4A78232EB13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Overconfidence in Practice: Real Examples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86384"/>
            <a:ext cx="6035040" cy="1152144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95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64208" y="85953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submits AI-generated brief with fabricated case citations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2529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Fined by court; "Mata v. Avianca" (2023) — ChatGPT cited non-existent cases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361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Lesson: Always verify citations against primary sources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6035040" cy="1152144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96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64208" y="213969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confidently provides wrong drug interaction information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Patient harm risk; model said drug A and B were safe together (they are not)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163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Lesson: Medical AI must have human-in-the-loop validation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6035040" cy="1152144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198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64208" y="34198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generates financial report with hallucinated revenue figures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7856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Incorrect forecast presented to investors; model invented $2M in revenue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09651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Lesson: Require grounding to structured data sources; no free-form financial generation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Reuters - Lawyer cited ChatGPT fake cases (2023)</a:t>
            </a:r>
            <a:endParaRPr lang="en-US" sz="900" dirty="0"/>
          </a:p>
        </p:txBody>
      </p:sp>
      <p:pic>
        <p:nvPicPr>
          <p:cNvPr id="21" name="Google Shape;56;p13">
            <a:extLst>
              <a:ext uri="{FF2B5EF4-FFF2-40B4-BE49-F238E27FC236}">
                <a16:creationId xmlns:a16="http://schemas.microsoft.com/office/drawing/2014/main" id="{8AF527F3-B90A-437E-9895-895ABAD6D9F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731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[IIT KGP]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Strategies: Grounding, RAG, Self-consistency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86384"/>
            <a:ext cx="4114800" cy="914400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9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relevant documents at inference time. Model must cite from context, not from parametric memory.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knowledge-intensive QA, documentation search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786384"/>
            <a:ext cx="4114800" cy="914400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59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Sampling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152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multiple outputs with temperature &gt;0. If answers diverge, confidence is low. Majority-vote for final answer.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81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math, reasoning, factual queries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773936"/>
            <a:ext cx="411480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Factuality Scoring (NLI-based)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1396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separate NLI model to score whether each claim in the output is entailed by a reference document.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4688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MiniCheck, FactScore, AlignScore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773936"/>
            <a:ext cx="4114800" cy="91440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Forcing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1396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"Every factual claim must include a [source: X]." Unfounded claims surface as "[source: unknown]".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report generation, customer support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Lewis et al., Retrieval-Augmented Generation (2020)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Playbook for Production Systems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86384"/>
            <a:ext cx="1371600" cy="113385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786384"/>
            <a:ext cx="4663440" cy="113385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8778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RAG to ground responses in verified sources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12252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Constrain model to structured output (JSON schema)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1572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 domain: "Only answer questions about X"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48256"/>
            <a:ext cx="1371600" cy="113385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323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28800" y="2048256"/>
            <a:ext cx="4663440" cy="113385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1396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NLI faithfulness scoring on every output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24871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confidence scores and monitor ECE drift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2834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self-consistency checks for critical queries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1371600" cy="11338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941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828800" y="3310128"/>
            <a:ext cx="4663440" cy="113385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3401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Human-in-the-loop for high-stakes decisions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65960" y="3749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Graceful degradation: "I don't know" is a valid answer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65960" y="40965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 models and roll back on quality regression</a:t>
            </a:r>
            <a:endParaRPr lang="en-US" sz="1300" dirty="0"/>
          </a:p>
        </p:txBody>
      </p:sp>
      <p:pic>
        <p:nvPicPr>
          <p:cNvPr id="23" name="Google Shape;56;p13">
            <a:extLst>
              <a:ext uri="{FF2B5EF4-FFF2-40B4-BE49-F238E27FC236}">
                <a16:creationId xmlns:a16="http://schemas.microsoft.com/office/drawing/2014/main" id="{C4544A51-43CF-4899-BD7E-6995DEEF07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Summary: AI Failure Modes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Hallucination is probabilistic — not a bug, but an inherent model property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91056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Types: Factual, Temporal, Retrieval — each needs a different mitigation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5798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Overconfidence (ECE) is dangerous in legal, medical, and financial domains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2491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Detection: RAG + NLI scoring + self-consistency + citation forcing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Playbook: PREVENT → DETECT → MITIGATE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416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answer: "What happens if the model is wrong?" before deploying.</a:t>
            </a:r>
            <a:endParaRPr lang="en-US" sz="1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Coding Tools Landscape (2025)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dominant paradigms have emerged for AI-assisted software development: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1261872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Paradigm: IDE Extension  |  Model: GPT-4 / Claude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Enterprise adoption, IP indemnity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14800" cy="1261872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61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Paradigm: AI-Native IDE  |  Model: Claude 3.7 / GPT-4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tab completion, Composer agent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87752"/>
            <a:ext cx="4114800" cy="126187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9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3063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Paradigm: Terminal Agent  |  Model: Claude Sonnet/Opus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Agentic multi-file refactors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587752"/>
            <a:ext cx="4114800" cy="126187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679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3063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Paradigm: Flow-State IDE  |  Model: Claude / GPT-4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337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value, generous free tier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Copilot Blog</a:t>
            </a:r>
            <a:endParaRPr lang="en-US" sz="900" dirty="0"/>
          </a:p>
        </p:txBody>
      </p:sp>
      <p:pic>
        <p:nvPicPr>
          <p:cNvPr id="23" name="Google Shape;56;p13">
            <a:extLst>
              <a:ext uri="{FF2B5EF4-FFF2-40B4-BE49-F238E27FC236}">
                <a16:creationId xmlns:a16="http://schemas.microsoft.com/office/drawing/2014/main" id="{18BCB8B9-B7BE-45C1-B46E-E82E84B57F8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Copilot: Features, Strengths, Pricing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804672"/>
            <a:ext cx="466344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87782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$10/mo (Individual) · $19/mo (Business) · $39/mo (Enterprise)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9903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1399032"/>
            <a:ext cx="466344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47218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Fortune 500 companies · 1.8M+ paid users (2024)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37360" y="1993392"/>
            <a:ext cx="466344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06654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Claude 3.7 Sonnet (user-selectable)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58775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Indemnity: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37360" y="2587752"/>
            <a:ext cx="466344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66090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Business/Enterprise plans: legal cover if sued for generated code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18211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37360" y="3182112"/>
            <a:ext cx="466344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325526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single-line completion; 40% agentic task completion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777240"/>
            <a:ext cx="2286000" cy="2999232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8686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1261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GitHub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16642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 reviews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0665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Actions automation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2468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 tool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287121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Code, JetBrains, Neovim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Copilot Pricing</a:t>
            </a:r>
            <a:endParaRPr lang="en-US" sz="900" dirty="0"/>
          </a:p>
        </p:txBody>
      </p:sp>
      <p:pic>
        <p:nvPicPr>
          <p:cNvPr id="28" name="Google Shape;56;p13">
            <a:extLst>
              <a:ext uri="{FF2B5EF4-FFF2-40B4-BE49-F238E27FC236}">
                <a16:creationId xmlns:a16="http://schemas.microsoft.com/office/drawing/2014/main" id="{17E19C94-7C90-4D2A-9897-A51FF7AC996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Cursor: The AI-Native 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59" y="749808"/>
            <a:ext cx="6365583" cy="493776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is a fork of VS Code built AI-first — every feature is designed around LLM assistance.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137160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$20/mo Pro (500 premium requests) · $40/mo Business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5681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completion: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195681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&lt;300ms latency · 70% single-line accuracy (industry-leading)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Agent: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254203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agentic task accuracy · multi-file edits from natural language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1272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74520" y="312724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@file, @codebase, @docs, @web — model sees your entire repo graph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71246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74520" y="3712464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3.7 Sonnet (default), GPT-4.1, Gemini 1.5 Pro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64058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Individual developers and small teams who want maximum coding velocity.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Cursor.sh Pricing</a:t>
            </a:r>
            <a:endParaRPr lang="en-US" sz="900" dirty="0"/>
          </a:p>
        </p:txBody>
      </p:sp>
      <p:pic>
        <p:nvPicPr>
          <p:cNvPr id="19" name="Google Shape;56;p13">
            <a:extLst>
              <a:ext uri="{FF2B5EF4-FFF2-40B4-BE49-F238E27FC236}">
                <a16:creationId xmlns:a16="http://schemas.microsoft.com/office/drawing/2014/main" id="{C44E6982-FA01-4847-80E9-ABDDA0BC748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 Terminal-First Autonomous Agent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6400800" cy="475488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runs in your terminal — it reads, writes, and executes code autonomously across your entire codebase.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84832" y="133502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$20/mo Max plan OR pay-per-token ($120–$250/mo heavy use)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accuracy: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84832" y="18745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on multi-step coding tasks — highest of any tool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41401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capability: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84832" y="241401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refactors: rename function across 50 files with tests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95351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84832" y="295351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200K tokens — reads your entire monorepo in one shot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49300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84832" y="349300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CI/CD pipelines, bash/zsh, MCP protocol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03250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84832" y="403250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engineers doing large-scale refactors, test generation, onboarding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Claude Code Docs</a:t>
            </a:r>
            <a:endParaRPr lang="en-US" sz="900" dirty="0"/>
          </a:p>
        </p:txBody>
      </p:sp>
      <p:pic>
        <p:nvPicPr>
          <p:cNvPr id="20" name="Google Shape;56;p13">
            <a:extLst>
              <a:ext uri="{FF2B5EF4-FFF2-40B4-BE49-F238E27FC236}">
                <a16:creationId xmlns:a16="http://schemas.microsoft.com/office/drawing/2014/main" id="{C64CC4FC-E348-46D2-89CF-92E2046313D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Windsurf: Flow-State Coding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59" y="749808"/>
            <a:ext cx="6452081" cy="475488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 (by Codeium) is designed for "flow-state" coding — Cascade agent maintains full context of your working session.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31673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$15/mo Pro — best value in the market (vs $20 Cursor, $20 Claude Code)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6537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186537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generous: 10 free fast requests + unlimited slow requests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41401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agent: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41401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session-level context; understands what you're working 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96265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96265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3.7 Sonnet, GPT-4.1, Windsurf proprietary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51129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51129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markets (India), students, cost-conscious teams, solo devs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05993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feature: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405993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Supercomplete: predicts and applies multi-line edits in one keystroke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Windsurf (Codeium) Pricing</a:t>
            </a:r>
            <a:endParaRPr lang="en-US" sz="900" dirty="0"/>
          </a:p>
        </p:txBody>
      </p:sp>
      <p:pic>
        <p:nvPicPr>
          <p:cNvPr id="20" name="Google Shape;56;p13">
            <a:extLst>
              <a:ext uri="{FF2B5EF4-FFF2-40B4-BE49-F238E27FC236}">
                <a16:creationId xmlns:a16="http://schemas.microsoft.com/office/drawing/2014/main" id="{1FC65AF1-3890-475C-BAC6-CC2C6424791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Tools: Comparison Matrix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1554480" cy="365760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81381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749808"/>
            <a:ext cx="1554480" cy="365760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6816" y="81381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749808"/>
            <a:ext cx="1554480" cy="365760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81381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749808"/>
            <a:ext cx="1554480" cy="365760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81381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749808"/>
            <a:ext cx="1554480" cy="365760"/>
          </a:xfrm>
          <a:prstGeom prst="rect">
            <a:avLst/>
          </a:prstGeom>
          <a:solidFill>
            <a:srgbClr val="1A237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7416" y="81381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11556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11704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Price/mo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111556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56816" y="11704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$10–39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111556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11704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111556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57216" y="11704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$20+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11556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7416" y="11704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148132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" y="15361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Single-line accuracy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148132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56816" y="15361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20440" y="148132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7016" y="15361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148132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7216" y="15361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148132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15361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184708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19019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accuracy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20240" y="184708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56816" y="19019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20440" y="184708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57016" y="19019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20640" y="184708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57216" y="19019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20840" y="184708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57416" y="19019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221284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226771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920240" y="221284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6816" y="226771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8K–128K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20440" y="221284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57016" y="226771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120640" y="221284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57216" y="226771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20840" y="221284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57416" y="226771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0040" y="257860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edits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920240" y="257860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56816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520440" y="257860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57016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20640" y="257860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57216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720840" y="257860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57416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0040" y="294436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6616" y="29992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Indemnity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920240" y="294436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56816" y="29992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(Biz+)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520440" y="294436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57016" y="29992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0" y="294436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57216" y="29992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720840" y="294436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57416" y="29992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20040" y="331012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6616" y="33649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920240" y="331012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956816" y="33649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Limited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520440" y="331012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57016" y="33649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Limited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120640" y="331012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57216" y="33649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720840" y="3310128"/>
            <a:ext cx="15544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57416" y="33649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Generous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20040" y="367588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56616" y="3730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920240" y="367588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956816" y="3730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520440" y="367588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557016" y="3730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120640" y="367588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57216" y="3730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refactor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720840" y="3675888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757416" y="373075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Value/Cost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Cursor Docs</a:t>
            </a:r>
            <a:endParaRPr lang="en-US" sz="900" dirty="0"/>
          </a:p>
        </p:txBody>
      </p:sp>
      <p:pic>
        <p:nvPicPr>
          <p:cNvPr id="96" name="Google Shape;56;p13">
            <a:extLst>
              <a:ext uri="{FF2B5EF4-FFF2-40B4-BE49-F238E27FC236}">
                <a16:creationId xmlns:a16="http://schemas.microsoft.com/office/drawing/2014/main" id="{C5EA839C-23A9-4FF0-AD17-F6838441FE4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Tool: Decision Framework by Role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86384"/>
            <a:ext cx="6643610" cy="585216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95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78608" y="8595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indemnity required, compliance, audit trail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8595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GitHub Copilot Business/Enterprise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85953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490472"/>
            <a:ext cx="6643610" cy="585216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636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Startup Dev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78608" y="15636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coding velocity, best autocomplete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563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Cursor Pro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56362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6643610" cy="585216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67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/ Senior Engineer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78608" y="2267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refactors, multi-file autonomous tasks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267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 Code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2677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898648"/>
            <a:ext cx="6643610" cy="585216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71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Emerging Market Dev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78608" y="2971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Cost-sensitive, generous free tier, good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971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Windsurf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971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602736"/>
            <a:ext cx="6643610" cy="585216"/>
          </a:xfrm>
          <a:prstGeom prst="rect">
            <a:avLst/>
          </a:prstGeom>
          <a:solidFill>
            <a:srgbClr val="F3E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75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Mixed roles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78608" y="36758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tooling, collaboration features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6758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Copilot Business or Cursor Business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6758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2793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Try before you buy — all tools have free tiers. Evaluate on your actual codebase.</a:t>
            </a:r>
            <a:endParaRPr lang="en-US" sz="1200" dirty="0"/>
          </a:p>
        </p:txBody>
      </p:sp>
      <p:pic>
        <p:nvPicPr>
          <p:cNvPr id="31" name="Google Shape;56;p13">
            <a:extLst>
              <a:ext uri="{FF2B5EF4-FFF2-40B4-BE49-F238E27FC236}">
                <a16:creationId xmlns:a16="http://schemas.microsoft.com/office/drawing/2014/main" id="{7DD34315-0C12-48FC-AB2D-E0BD9C4469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0A1C0-3090-A265-353D-8A3D6155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D990AEF-7EFB-75B4-15CC-FA86F3BC9B84}"/>
              </a:ext>
            </a:extLst>
          </p:cNvPr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lvl="0"/>
            <a:r>
              <a:rPr lang="en-US" sz="24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Cursor Example: @Codebase Context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42A21CF-70C6-CBF5-F552-99C58641DEFD}"/>
              </a:ext>
            </a:extLst>
          </p:cNvPr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31" name="Google Shape;56;p13">
            <a:extLst>
              <a:ext uri="{FF2B5EF4-FFF2-40B4-BE49-F238E27FC236}">
                <a16:creationId xmlns:a16="http://schemas.microsoft.com/office/drawing/2014/main" id="{E53FC193-D819-2885-0AAF-78FCDE46F21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22;p16" descr="image.png">
            <a:extLst>
              <a:ext uri="{FF2B5EF4-FFF2-40B4-BE49-F238E27FC236}">
                <a16:creationId xmlns:a16="http://schemas.microsoft.com/office/drawing/2014/main" id="{7DA88456-7AB4-4196-9603-BCBC5D43D2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45" y="1948587"/>
            <a:ext cx="456414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125;p16">
            <a:extLst>
              <a:ext uri="{FF2B5EF4-FFF2-40B4-BE49-F238E27FC236}">
                <a16:creationId xmlns:a16="http://schemas.microsoft.com/office/drawing/2014/main" id="{6C8ABE4E-7291-3D8E-5276-D96B2C96F2A7}"/>
              </a:ext>
            </a:extLst>
          </p:cNvPr>
          <p:cNvSpPr txBox="1"/>
          <p:nvPr/>
        </p:nvSpPr>
        <p:spPr>
          <a:xfrm>
            <a:off x="215245" y="739140"/>
            <a:ext cx="530066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2100" b="1" kern="0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Architectural Mapping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" name="Google Shape;126;p16">
            <a:extLst>
              <a:ext uri="{FF2B5EF4-FFF2-40B4-BE49-F238E27FC236}">
                <a16:creationId xmlns:a16="http://schemas.microsoft.com/office/drawing/2014/main" id="{4C6F531A-BEAF-8876-8275-E189659FEC45}"/>
              </a:ext>
            </a:extLst>
          </p:cNvPr>
          <p:cNvSpPr txBox="1"/>
          <p:nvPr/>
        </p:nvSpPr>
        <p:spPr>
          <a:xfrm>
            <a:off x="215245" y="1083955"/>
            <a:ext cx="403624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Font typeface="Arial"/>
              <a:buNone/>
            </a:pPr>
            <a:r>
              <a:rPr lang="en-US" sz="1500" kern="0" dirty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Eliminate manual file searching. Use the </a:t>
            </a:r>
            <a:r>
              <a:rPr lang="en-US" sz="1500" b="1" kern="0" dirty="0">
                <a:solidFill>
                  <a:srgbClr val="C5B358"/>
                </a:solidFill>
                <a:latin typeface="Public Sans"/>
                <a:ea typeface="Public Sans"/>
                <a:cs typeface="Public Sans"/>
                <a:sym typeface="Public Sans"/>
              </a:rPr>
              <a:t>@Codebase</a:t>
            </a:r>
            <a:r>
              <a:rPr lang="en-US" sz="1500" kern="0" dirty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 symbol to query your repository graph.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46" name="Google Shape;127;p16" descr="image.png">
            <a:extLst>
              <a:ext uri="{FF2B5EF4-FFF2-40B4-BE49-F238E27FC236}">
                <a16:creationId xmlns:a16="http://schemas.microsoft.com/office/drawing/2014/main" id="{8724CA3A-621B-F3F1-A7B5-0CB20BD270A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2504" y="1276550"/>
            <a:ext cx="3721496" cy="272467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128;p16">
            <a:extLst>
              <a:ext uri="{FF2B5EF4-FFF2-40B4-BE49-F238E27FC236}">
                <a16:creationId xmlns:a16="http://schemas.microsoft.com/office/drawing/2014/main" id="{98507023-827F-CDBD-DCEF-00C6549D52DD}"/>
              </a:ext>
            </a:extLst>
          </p:cNvPr>
          <p:cNvSpPr txBox="1"/>
          <p:nvPr/>
        </p:nvSpPr>
        <p:spPr>
          <a:xfrm>
            <a:off x="596245" y="2767737"/>
            <a:ext cx="4667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Font typeface="Arial"/>
              <a:buNone/>
            </a:pPr>
            <a:r>
              <a:rPr lang="en-US" sz="1500" kern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Automatically locates relevant middleware.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" name="Google Shape;129;p16">
            <a:extLst>
              <a:ext uri="{FF2B5EF4-FFF2-40B4-BE49-F238E27FC236}">
                <a16:creationId xmlns:a16="http://schemas.microsoft.com/office/drawing/2014/main" id="{2ADDBFA5-BAE1-BDAA-C08F-FE0276907EDF}"/>
              </a:ext>
            </a:extLst>
          </p:cNvPr>
          <p:cNvSpPr txBox="1"/>
          <p:nvPr/>
        </p:nvSpPr>
        <p:spPr>
          <a:xfrm>
            <a:off x="596245" y="3263037"/>
            <a:ext cx="4667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Font typeface="Arial"/>
              <a:buNone/>
            </a:pPr>
            <a:r>
              <a:rPr lang="en-US" sz="1500" kern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Explains usage patterns (AST indexing).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" name="Google Shape;130;p16">
            <a:extLst>
              <a:ext uri="{FF2B5EF4-FFF2-40B4-BE49-F238E27FC236}">
                <a16:creationId xmlns:a16="http://schemas.microsoft.com/office/drawing/2014/main" id="{E05FBC21-ED79-9AC6-D733-7E532DAC1896}"/>
              </a:ext>
            </a:extLst>
          </p:cNvPr>
          <p:cNvSpPr txBox="1"/>
          <p:nvPr/>
        </p:nvSpPr>
        <p:spPr>
          <a:xfrm>
            <a:off x="596245" y="3758337"/>
            <a:ext cx="4667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Font typeface="Arial"/>
              <a:buNone/>
            </a:pPr>
            <a:r>
              <a:rPr lang="en-US" sz="1500" kern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Pinpoints inconsistencies in implementation.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50" name="Google Shape;131;p16" descr="image.png">
            <a:extLst>
              <a:ext uri="{FF2B5EF4-FFF2-40B4-BE49-F238E27FC236}">
                <a16:creationId xmlns:a16="http://schemas.microsoft.com/office/drawing/2014/main" id="{6929EEA0-342B-C7D9-C537-AF8A28766F0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5245" y="281059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132;p16" descr="image.png">
            <a:extLst>
              <a:ext uri="{FF2B5EF4-FFF2-40B4-BE49-F238E27FC236}">
                <a16:creationId xmlns:a16="http://schemas.microsoft.com/office/drawing/2014/main" id="{8B1CE55F-1A08-F3FF-14B2-07A37E0464A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5245" y="330589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133;p16" descr="image.png">
            <a:extLst>
              <a:ext uri="{FF2B5EF4-FFF2-40B4-BE49-F238E27FC236}">
                <a16:creationId xmlns:a16="http://schemas.microsoft.com/office/drawing/2014/main" id="{ADFD2C73-D00B-888D-9FFD-AA83666F4D9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5245" y="3801199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36249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94E65-5E22-F154-3B1F-0FFF7D728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699E7EA-67EA-CFBA-26F1-88BE3BC7F920}"/>
              </a:ext>
            </a:extLst>
          </p:cNvPr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lvl="0"/>
            <a:r>
              <a:rPr lang="en-US" sz="24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Cursor Example 2: Multi-File Refactoring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B1C3E6F-D83E-3995-A6FC-727F7911D179}"/>
              </a:ext>
            </a:extLst>
          </p:cNvPr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31" name="Google Shape;56;p13">
            <a:extLst>
              <a:ext uri="{FF2B5EF4-FFF2-40B4-BE49-F238E27FC236}">
                <a16:creationId xmlns:a16="http://schemas.microsoft.com/office/drawing/2014/main" id="{D5F49741-5D71-9AA4-0B45-2E9F90AC84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43;p17">
            <a:extLst>
              <a:ext uri="{FF2B5EF4-FFF2-40B4-BE49-F238E27FC236}">
                <a16:creationId xmlns:a16="http://schemas.microsoft.com/office/drawing/2014/main" id="{BB6E68CD-E43C-08AF-7284-464E43BD25A9}"/>
              </a:ext>
            </a:extLst>
          </p:cNvPr>
          <p:cNvSpPr txBox="1"/>
          <p:nvPr/>
        </p:nvSpPr>
        <p:spPr>
          <a:xfrm>
            <a:off x="314560" y="828065"/>
            <a:ext cx="29057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2400" b="1" kern="0" dirty="0">
                <a:solidFill>
                  <a:srgbClr val="C5B358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144;p17">
            <a:extLst>
              <a:ext uri="{FF2B5EF4-FFF2-40B4-BE49-F238E27FC236}">
                <a16:creationId xmlns:a16="http://schemas.microsoft.com/office/drawing/2014/main" id="{312FB97B-182F-88EC-16B7-E883CAB7F2CB}"/>
              </a:ext>
            </a:extLst>
          </p:cNvPr>
          <p:cNvSpPr txBox="1"/>
          <p:nvPr/>
        </p:nvSpPr>
        <p:spPr>
          <a:xfrm>
            <a:off x="209550" y="1460411"/>
            <a:ext cx="3461302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Font typeface="Arial"/>
              <a:buNone/>
            </a:pPr>
            <a:r>
              <a:rPr lang="en-US" kern="0" dirty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Updating a shared validation schema (e.g., Zod) often requires updating TypeScript types, API controllers, and mock data simultaneously.</a:t>
            </a:r>
            <a:endParaRPr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145;p17">
            <a:extLst>
              <a:ext uri="{FF2B5EF4-FFF2-40B4-BE49-F238E27FC236}">
                <a16:creationId xmlns:a16="http://schemas.microsoft.com/office/drawing/2014/main" id="{F805E079-4D3D-E5EE-28AE-E875315FF0A0}"/>
              </a:ext>
            </a:extLst>
          </p:cNvPr>
          <p:cNvSpPr txBox="1"/>
          <p:nvPr/>
        </p:nvSpPr>
        <p:spPr>
          <a:xfrm>
            <a:off x="3994283" y="891380"/>
            <a:ext cx="5401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2400" b="1" kern="0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The Solution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146;p17">
            <a:extLst>
              <a:ext uri="{FF2B5EF4-FFF2-40B4-BE49-F238E27FC236}">
                <a16:creationId xmlns:a16="http://schemas.microsoft.com/office/drawing/2014/main" id="{E3F9B057-85F1-0523-10A1-988DEBE2C596}"/>
              </a:ext>
            </a:extLst>
          </p:cNvPr>
          <p:cNvSpPr txBox="1"/>
          <p:nvPr/>
        </p:nvSpPr>
        <p:spPr>
          <a:xfrm>
            <a:off x="3882679" y="1494692"/>
            <a:ext cx="526132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Font typeface="Arial"/>
              <a:buNone/>
            </a:pPr>
            <a:r>
              <a:rPr lang="en-US" kern="0" dirty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Use </a:t>
            </a:r>
            <a:r>
              <a:rPr lang="en-US" b="1" kern="0" dirty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Composer Mode (</a:t>
            </a:r>
            <a:r>
              <a:rPr lang="en-US" b="1" kern="0" dirty="0" err="1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Cmd+I</a:t>
            </a:r>
            <a:r>
              <a:rPr lang="en-US" b="1" kern="0" dirty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)</a:t>
            </a:r>
            <a:r>
              <a:rPr lang="en-US" kern="0" dirty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. State the intent once; Cursor applies the diff across all affected files in a single pass.</a:t>
            </a:r>
            <a:endParaRPr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147;p17">
            <a:extLst>
              <a:ext uri="{FF2B5EF4-FFF2-40B4-BE49-F238E27FC236}">
                <a16:creationId xmlns:a16="http://schemas.microsoft.com/office/drawing/2014/main" id="{3C1ED2E6-1D47-CC6B-AE86-C53F161F038F}"/>
              </a:ext>
            </a:extLst>
          </p:cNvPr>
          <p:cNvSpPr txBox="1"/>
          <p:nvPr/>
        </p:nvSpPr>
        <p:spPr>
          <a:xfrm>
            <a:off x="3882679" y="2664860"/>
            <a:ext cx="514453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Font typeface="Arial"/>
              <a:buNone/>
            </a:pPr>
            <a:r>
              <a:rPr lang="en-US" i="1" kern="0" dirty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"Update UserSchema to include 'bio', update User types, and adjust mock fixtures."</a:t>
            </a:r>
            <a:endParaRPr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4" name="Google Shape;148;p17" descr="image.png">
            <a:extLst>
              <a:ext uri="{FF2B5EF4-FFF2-40B4-BE49-F238E27FC236}">
                <a16:creationId xmlns:a16="http://schemas.microsoft.com/office/drawing/2014/main" id="{656F7B29-56C0-4A73-C0F8-3CA94DE053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160" y="914286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49;p17" descr="image.png">
            <a:extLst>
              <a:ext uri="{FF2B5EF4-FFF2-40B4-BE49-F238E27FC236}">
                <a16:creationId xmlns:a16="http://schemas.microsoft.com/office/drawing/2014/main" id="{88327243-75A3-50B2-8CD5-892DB8CA164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89915" y="917185"/>
            <a:ext cx="280815" cy="266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14545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70BB5-FAB1-D19D-3E8F-341AAA21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1C50BDB-F0AC-0D6F-88D3-0843D23C6E43}"/>
              </a:ext>
            </a:extLst>
          </p:cNvPr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lvl="0"/>
            <a:r>
              <a:rPr lang="en-US" sz="24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Claude Code Example-1: CLI-Driven Debugging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F2F2D3-A048-AE39-4B75-48BE51AB86EA}"/>
              </a:ext>
            </a:extLst>
          </p:cNvPr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31" name="Google Shape;56;p13">
            <a:extLst>
              <a:ext uri="{FF2B5EF4-FFF2-40B4-BE49-F238E27FC236}">
                <a16:creationId xmlns:a16="http://schemas.microsoft.com/office/drawing/2014/main" id="{2643C170-EA3D-3465-5A37-E1BF1973104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01;p21" descr="image.png">
            <a:extLst>
              <a:ext uri="{FF2B5EF4-FFF2-40B4-BE49-F238E27FC236}">
                <a16:creationId xmlns:a16="http://schemas.microsoft.com/office/drawing/2014/main" id="{1B221D42-B0C3-3C92-1769-F98D97A026B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572" y="3073419"/>
            <a:ext cx="43624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04;p21">
            <a:extLst>
              <a:ext uri="{FF2B5EF4-FFF2-40B4-BE49-F238E27FC236}">
                <a16:creationId xmlns:a16="http://schemas.microsoft.com/office/drawing/2014/main" id="{18BF6C89-8571-312D-F60B-0F56FF878A66}"/>
              </a:ext>
            </a:extLst>
          </p:cNvPr>
          <p:cNvSpPr txBox="1"/>
          <p:nvPr/>
        </p:nvSpPr>
        <p:spPr>
          <a:xfrm>
            <a:off x="-8572" y="1362778"/>
            <a:ext cx="458057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Stateless Log Analysis</a:t>
            </a:r>
            <a:endParaRPr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205;p21">
            <a:extLst>
              <a:ext uri="{FF2B5EF4-FFF2-40B4-BE49-F238E27FC236}">
                <a16:creationId xmlns:a16="http://schemas.microsoft.com/office/drawing/2014/main" id="{F690B333-0494-9497-C8C3-AAD4DF5E73BE}"/>
              </a:ext>
            </a:extLst>
          </p:cNvPr>
          <p:cNvSpPr txBox="1"/>
          <p:nvPr/>
        </p:nvSpPr>
        <p:spPr>
          <a:xfrm>
            <a:off x="11611" y="1793665"/>
            <a:ext cx="4362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Font typeface="Arial"/>
              <a:buNone/>
            </a:pPr>
            <a:r>
              <a:rPr lang="en-US" kern="0" dirty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Pipe production logs directly into the agent for instant root-cause analysis.</a:t>
            </a:r>
            <a:endParaRPr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206;p21">
            <a:extLst>
              <a:ext uri="{FF2B5EF4-FFF2-40B4-BE49-F238E27FC236}">
                <a16:creationId xmlns:a16="http://schemas.microsoft.com/office/drawing/2014/main" id="{9BEF1AF2-1B67-EECC-76FE-9533DEF6D447}"/>
              </a:ext>
            </a:extLst>
          </p:cNvPr>
          <p:cNvSpPr txBox="1"/>
          <p:nvPr/>
        </p:nvSpPr>
        <p:spPr>
          <a:xfrm>
            <a:off x="4823259" y="1303683"/>
            <a:ext cx="420891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Autonomous Discovery</a:t>
            </a:r>
            <a:endParaRPr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207;p21">
            <a:extLst>
              <a:ext uri="{FF2B5EF4-FFF2-40B4-BE49-F238E27FC236}">
                <a16:creationId xmlns:a16="http://schemas.microsoft.com/office/drawing/2014/main" id="{D54C9C87-8D66-A9D1-4A1D-B9E900561794}"/>
              </a:ext>
            </a:extLst>
          </p:cNvPr>
          <p:cNvSpPr txBox="1"/>
          <p:nvPr/>
        </p:nvSpPr>
        <p:spPr>
          <a:xfrm>
            <a:off x="4923470" y="1821332"/>
            <a:ext cx="4008493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  <a:buClr>
                <a:srgbClr val="000000"/>
              </a:buClr>
              <a:buFont typeface="Arial"/>
              <a:buNone/>
            </a:pPr>
            <a:r>
              <a:rPr lang="en-US" kern="0" dirty="0">
                <a:solidFill>
                  <a:srgbClr val="1A202C"/>
                </a:solidFill>
                <a:latin typeface="Public Sans"/>
                <a:ea typeface="Public Sans"/>
                <a:cs typeface="Public Sans"/>
                <a:sym typeface="Public Sans"/>
              </a:rPr>
              <a:t>The agent navigates the codebase to find the source of the crash without human intervention, checking env vars and dependencies.</a:t>
            </a:r>
            <a:endParaRPr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1772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13416-91FC-BA18-833B-26D9E784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07DA100-BB7A-CDB4-BFBB-B616C091AB4C}"/>
              </a:ext>
            </a:extLst>
          </p:cNvPr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lvl="0"/>
            <a:r>
              <a:rPr lang="en-US" sz="24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Claude Code Example-2: Self-Healing Test Cycles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33E9DC-B18C-DB2B-E3D6-DD607F0437A6}"/>
              </a:ext>
            </a:extLst>
          </p:cNvPr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31" name="Google Shape;56;p13">
            <a:extLst>
              <a:ext uri="{FF2B5EF4-FFF2-40B4-BE49-F238E27FC236}">
                <a16:creationId xmlns:a16="http://schemas.microsoft.com/office/drawing/2014/main" id="{E4A5A302-2228-EC62-2349-C63D218CB9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15;p22">
            <a:extLst>
              <a:ext uri="{FF2B5EF4-FFF2-40B4-BE49-F238E27FC236}">
                <a16:creationId xmlns:a16="http://schemas.microsoft.com/office/drawing/2014/main" id="{5E0F0B37-8C8D-BEF8-8A2E-ED716C06C79C}"/>
              </a:ext>
            </a:extLst>
          </p:cNvPr>
          <p:cNvSpPr txBox="1"/>
          <p:nvPr/>
        </p:nvSpPr>
        <p:spPr>
          <a:xfrm>
            <a:off x="0" y="3948734"/>
            <a:ext cx="914354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1" u="none" strike="noStrike" cap="none" dirty="0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Note: The agent maintains a self-correcting loop until the criteria (tests pass) are met.</a:t>
            </a:r>
            <a:endParaRPr sz="2400" dirty="0"/>
          </a:p>
        </p:txBody>
      </p:sp>
      <p:graphicFrame>
        <p:nvGraphicFramePr>
          <p:cNvPr id="5" name="Google Shape;216;p22">
            <a:extLst>
              <a:ext uri="{FF2B5EF4-FFF2-40B4-BE49-F238E27FC236}">
                <a16:creationId xmlns:a16="http://schemas.microsoft.com/office/drawing/2014/main" id="{16C80CFF-1D75-4D38-98A8-CBA4666414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1077513"/>
              </p:ext>
            </p:extLst>
          </p:nvPr>
        </p:nvGraphicFramePr>
        <p:xfrm>
          <a:off x="1" y="1196009"/>
          <a:ext cx="9144000" cy="2467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8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FFF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Phase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FFF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Agent Action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FFF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Developer Oversight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Initiate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`</a:t>
                      </a: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claude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"Run Jest tests and fix failures"`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Human sets the goal/constraint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Analysis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Parses error trace, opens failing file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Reviews proposed logic changes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Execution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Applies fix and re-runs test suite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Verifies no side effects on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Completion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Reports 100% pass 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Override Judgment:</a:t>
                      </a: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Accept commit?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Google Shape;217;p22">
            <a:extLst>
              <a:ext uri="{FF2B5EF4-FFF2-40B4-BE49-F238E27FC236}">
                <a16:creationId xmlns:a16="http://schemas.microsoft.com/office/drawing/2014/main" id="{1004C74E-0C78-D173-4F6A-CA135DE603F2}"/>
              </a:ext>
            </a:extLst>
          </p:cNvPr>
          <p:cNvSpPr/>
          <p:nvPr/>
        </p:nvSpPr>
        <p:spPr>
          <a:xfrm>
            <a:off x="0" y="2162796"/>
            <a:ext cx="1738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18;p22">
            <a:extLst>
              <a:ext uri="{FF2B5EF4-FFF2-40B4-BE49-F238E27FC236}">
                <a16:creationId xmlns:a16="http://schemas.microsoft.com/office/drawing/2014/main" id="{51B7005C-A3A1-BE32-E9ED-FBFC93FDF0CB}"/>
              </a:ext>
            </a:extLst>
          </p:cNvPr>
          <p:cNvSpPr/>
          <p:nvPr/>
        </p:nvSpPr>
        <p:spPr>
          <a:xfrm>
            <a:off x="1738312" y="2162796"/>
            <a:ext cx="4577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0;p22">
            <a:extLst>
              <a:ext uri="{FF2B5EF4-FFF2-40B4-BE49-F238E27FC236}">
                <a16:creationId xmlns:a16="http://schemas.microsoft.com/office/drawing/2014/main" id="{1828087B-E80A-2EF6-88F4-79C8D5E993C5}"/>
              </a:ext>
            </a:extLst>
          </p:cNvPr>
          <p:cNvSpPr/>
          <p:nvPr/>
        </p:nvSpPr>
        <p:spPr>
          <a:xfrm>
            <a:off x="0" y="2658096"/>
            <a:ext cx="1738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21;p22">
            <a:extLst>
              <a:ext uri="{FF2B5EF4-FFF2-40B4-BE49-F238E27FC236}">
                <a16:creationId xmlns:a16="http://schemas.microsoft.com/office/drawing/2014/main" id="{2B6B6445-E710-A61A-41A3-6289CAC335BE}"/>
              </a:ext>
            </a:extLst>
          </p:cNvPr>
          <p:cNvSpPr/>
          <p:nvPr/>
        </p:nvSpPr>
        <p:spPr>
          <a:xfrm>
            <a:off x="1738312" y="2658096"/>
            <a:ext cx="4577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23;p22">
            <a:extLst>
              <a:ext uri="{FF2B5EF4-FFF2-40B4-BE49-F238E27FC236}">
                <a16:creationId xmlns:a16="http://schemas.microsoft.com/office/drawing/2014/main" id="{EA6559D0-FA45-CA64-744B-B9A4890A3D63}"/>
              </a:ext>
            </a:extLst>
          </p:cNvPr>
          <p:cNvSpPr/>
          <p:nvPr/>
        </p:nvSpPr>
        <p:spPr>
          <a:xfrm>
            <a:off x="0" y="3153396"/>
            <a:ext cx="1738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24;p22">
            <a:extLst>
              <a:ext uri="{FF2B5EF4-FFF2-40B4-BE49-F238E27FC236}">
                <a16:creationId xmlns:a16="http://schemas.microsoft.com/office/drawing/2014/main" id="{F294BD52-D14A-C2EF-69F8-A4215C0E5C58}"/>
              </a:ext>
            </a:extLst>
          </p:cNvPr>
          <p:cNvSpPr/>
          <p:nvPr/>
        </p:nvSpPr>
        <p:spPr>
          <a:xfrm>
            <a:off x="1738312" y="3153396"/>
            <a:ext cx="4577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25;p22">
            <a:extLst>
              <a:ext uri="{FF2B5EF4-FFF2-40B4-BE49-F238E27FC236}">
                <a16:creationId xmlns:a16="http://schemas.microsoft.com/office/drawing/2014/main" id="{BE9E051F-B627-F41D-0DA1-26346A58E087}"/>
              </a:ext>
            </a:extLst>
          </p:cNvPr>
          <p:cNvSpPr/>
          <p:nvPr/>
        </p:nvSpPr>
        <p:spPr>
          <a:xfrm>
            <a:off x="4791671" y="3180065"/>
            <a:ext cx="43523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26;p22">
            <a:extLst>
              <a:ext uri="{FF2B5EF4-FFF2-40B4-BE49-F238E27FC236}">
                <a16:creationId xmlns:a16="http://schemas.microsoft.com/office/drawing/2014/main" id="{42CDF728-BBD4-7748-5E6A-599C096AB1E1}"/>
              </a:ext>
            </a:extLst>
          </p:cNvPr>
          <p:cNvSpPr/>
          <p:nvPr/>
        </p:nvSpPr>
        <p:spPr>
          <a:xfrm>
            <a:off x="0" y="3648696"/>
            <a:ext cx="1738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27;p22">
            <a:extLst>
              <a:ext uri="{FF2B5EF4-FFF2-40B4-BE49-F238E27FC236}">
                <a16:creationId xmlns:a16="http://schemas.microsoft.com/office/drawing/2014/main" id="{EB52F854-EA28-49B0-CEB6-90719DFF2E5B}"/>
              </a:ext>
            </a:extLst>
          </p:cNvPr>
          <p:cNvSpPr/>
          <p:nvPr/>
        </p:nvSpPr>
        <p:spPr>
          <a:xfrm>
            <a:off x="1738312" y="3648696"/>
            <a:ext cx="4577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18;p22">
            <a:extLst>
              <a:ext uri="{FF2B5EF4-FFF2-40B4-BE49-F238E27FC236}">
                <a16:creationId xmlns:a16="http://schemas.microsoft.com/office/drawing/2014/main" id="{73CFF5F7-96B6-C56C-9B0F-032B98E89047}"/>
              </a:ext>
            </a:extLst>
          </p:cNvPr>
          <p:cNvSpPr/>
          <p:nvPr/>
        </p:nvSpPr>
        <p:spPr>
          <a:xfrm>
            <a:off x="4566183" y="2145861"/>
            <a:ext cx="4577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18;p22">
            <a:extLst>
              <a:ext uri="{FF2B5EF4-FFF2-40B4-BE49-F238E27FC236}">
                <a16:creationId xmlns:a16="http://schemas.microsoft.com/office/drawing/2014/main" id="{C6269352-7EC7-0543-9D1D-99144250AFCC}"/>
              </a:ext>
            </a:extLst>
          </p:cNvPr>
          <p:cNvSpPr/>
          <p:nvPr/>
        </p:nvSpPr>
        <p:spPr>
          <a:xfrm>
            <a:off x="4583115" y="2670797"/>
            <a:ext cx="4577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18;p22">
            <a:extLst>
              <a:ext uri="{FF2B5EF4-FFF2-40B4-BE49-F238E27FC236}">
                <a16:creationId xmlns:a16="http://schemas.microsoft.com/office/drawing/2014/main" id="{3E6D5EB9-31C5-524C-BC82-28ACEF46A329}"/>
              </a:ext>
            </a:extLst>
          </p:cNvPr>
          <p:cNvSpPr/>
          <p:nvPr/>
        </p:nvSpPr>
        <p:spPr>
          <a:xfrm>
            <a:off x="39331" y="3161864"/>
            <a:ext cx="45773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25;p22">
            <a:extLst>
              <a:ext uri="{FF2B5EF4-FFF2-40B4-BE49-F238E27FC236}">
                <a16:creationId xmlns:a16="http://schemas.microsoft.com/office/drawing/2014/main" id="{56782928-790F-F5EC-67F2-124E16249111}"/>
              </a:ext>
            </a:extLst>
          </p:cNvPr>
          <p:cNvSpPr/>
          <p:nvPr/>
        </p:nvSpPr>
        <p:spPr>
          <a:xfrm>
            <a:off x="4819892" y="3637268"/>
            <a:ext cx="43523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85208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Summary: AI Development Tooling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Four paradigms: IDE Extension (Copilot), AI-IDE (Cursor), Terminal Agent (Claude Code), Flow-State IDE (Windsurf)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Claude Code has highest agentic accuracy (80%) — best for complex multi-file tasks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2257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Cursor has best tab completion (&lt;300ms, 70% accuracy) — best for velocity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980944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 Copilot is the enterprise standard with IP indemnity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3931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Windsurf offers best value — ideal for cost-sensitive teams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No single tool wins — match tool to role, task type, and budget.</a:t>
            </a:r>
            <a:endParaRPr lang="en-US" sz="13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Pair Programming?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programming: a workflow where a developer and an AI model collaborate iteratively — the human sets intent, the AI generates, the human verifies and steers.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114800" cy="2011680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264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Pair Programming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 + Navigator (two humans)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Synchronous, same session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968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mental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overhead, scheduling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353312"/>
            <a:ext cx="4114800" cy="2011680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264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Developer + AI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212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Asynchronous, on-demand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5968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Developer holds mental 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9809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scheduling; always available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493008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programming amplifies — but does not replace — developer judgment and domain expertise.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858768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Developers using AI pair programming report 55% faster task completion (GitHub, 2023).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691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Copilot Research</a:t>
            </a:r>
            <a:endParaRPr lang="en-US" sz="900" dirty="0"/>
          </a:p>
        </p:txBody>
      </p:sp>
      <p:pic>
        <p:nvPicPr>
          <p:cNvPr id="21" name="Google Shape;56;p13">
            <a:extLst>
              <a:ext uri="{FF2B5EF4-FFF2-40B4-BE49-F238E27FC236}">
                <a16:creationId xmlns:a16="http://schemas.microsoft.com/office/drawing/2014/main" id="{E280EA1E-FFEF-440A-A6AE-89C6FE3AFCD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Vibe Coding Trap vs Disciplined Workflow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9808"/>
            <a:ext cx="4023360" cy="320040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Vibe Coding Trap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"It looks right, so it must be right"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 AI output without reading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Skip tests — AI probably got 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140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→ copy-paste → ship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980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specification before prompting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182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Lose track of what was changed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749808"/>
            <a:ext cx="402336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Disciplined Workflow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Specify before prompting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6459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every line of AI output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029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tests before accepting code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4140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→ verify → commit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7980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diff reviews under 200 lines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182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what AI changed and why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07822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creates technical debt that compounds — AI-generated bugs are still THE DEVELOPER’S bugs!</a:t>
            </a:r>
            <a:endParaRPr lang="en-US" sz="1200" dirty="0"/>
          </a:p>
        </p:txBody>
      </p:sp>
      <p:pic>
        <p:nvPicPr>
          <p:cNvPr id="22" name="Google Shape;56;p13">
            <a:extLst>
              <a:ext uri="{FF2B5EF4-FFF2-40B4-BE49-F238E27FC236}">
                <a16:creationId xmlns:a16="http://schemas.microsoft.com/office/drawing/2014/main" id="{3F0FA962-F132-46CD-A36A-475626D820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Specification Clarity — Writing Good Prompts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prompt produces vague code. Specificity is the developer's primary tool.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069080" cy="256032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Bad Prompt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function to process user data and return results."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input/output types specified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error handling mentioned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performance constraint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"results" is undefined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207008"/>
            <a:ext cx="4160520" cy="256032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80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Prompt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627632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Python function process_user_data(users: List[Dict]) → List[str] that extracts email addresses, validates format with regex, skips malformed entries with a warning log, and returns a sorted deduplicated list. Handle empty input by returning []."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91363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function_name(input: Type) → ReturnType. Behavior. Edge cases. Constraints.</a:t>
            </a:r>
            <a:endParaRPr lang="en-US" sz="1200" dirty="0"/>
          </a:p>
        </p:txBody>
      </p:sp>
      <p:pic>
        <p:nvPicPr>
          <p:cNvPr id="17" name="Google Shape;56;p13">
            <a:extLst>
              <a:ext uri="{FF2B5EF4-FFF2-40B4-BE49-F238E27FC236}">
                <a16:creationId xmlns:a16="http://schemas.microsoft.com/office/drawing/2014/main" id="{D61EC956-4F9A-451A-A877-62DAAF60F5F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0FF83-834F-57ED-2710-5C170929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020E82F-98DF-66FD-5E8F-B3D7788DB372}"/>
              </a:ext>
            </a:extLst>
          </p:cNvPr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Case Study: Wallet Deduction</a:t>
            </a:r>
            <a:endParaRPr lang="en-US" sz="2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8C200DA-AF66-E9B9-F146-EAE4DA0FCD87}"/>
              </a:ext>
            </a:extLst>
          </p:cNvPr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17" name="Google Shape;56;p13">
            <a:extLst>
              <a:ext uri="{FF2B5EF4-FFF2-40B4-BE49-F238E27FC236}">
                <a16:creationId xmlns:a16="http://schemas.microsoft.com/office/drawing/2014/main" id="{7E51CDD5-7713-9CC2-B750-E7AE2C8EAB9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49;p17" descr="image.png">
            <a:extLst>
              <a:ext uri="{FF2B5EF4-FFF2-40B4-BE49-F238E27FC236}">
                <a16:creationId xmlns:a16="http://schemas.microsoft.com/office/drawing/2014/main" id="{1D4AB569-8643-6B5D-84CC-D9A7469680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01" y="2055724"/>
            <a:ext cx="9048397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54;p17">
            <a:extLst>
              <a:ext uri="{FF2B5EF4-FFF2-40B4-BE49-F238E27FC236}">
                <a16:creationId xmlns:a16="http://schemas.microsoft.com/office/drawing/2014/main" id="{CA7EB382-8178-3878-74E2-AFCF408AC1D1}"/>
              </a:ext>
            </a:extLst>
          </p:cNvPr>
          <p:cNvSpPr txBox="1"/>
          <p:nvPr/>
        </p:nvSpPr>
        <p:spPr>
          <a:xfrm>
            <a:off x="95603" y="909725"/>
            <a:ext cx="9048397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 production-ready blueprint provided to an AI workspace (e.g., Cursor Composer) to guarantee deterministic execution bounds: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5971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Verification — Testing AI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ship AI-generated code without verification. The AI does not know your production context.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59" y="1188720"/>
            <a:ext cx="7629665" cy="530352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1280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linter, mypy, ESLint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12801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code parse and type-check?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7629664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019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1901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jest, go 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190195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each function behave as specified?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59" y="2432304"/>
            <a:ext cx="7629663" cy="53035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2374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25237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test env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25237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with real dependencies?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7629662" cy="530352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4553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31455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Bandit, Semgrep, CodeQL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31455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injection, auth, or data exposure risks?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59" y="3675888"/>
            <a:ext cx="7629661" cy="530352"/>
          </a:xfrm>
          <a:prstGeom prst="rect">
            <a:avLst/>
          </a:prstGeom>
          <a:solidFill>
            <a:srgbClr val="F3E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6732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83080" y="37673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 (Copilot PR review)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60520" y="37673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logic match intent? Any subtle bugs?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3708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Write test cases BEFORE prompting the AI — use them to verify output immediately.</a:t>
            </a:r>
            <a:endParaRPr lang="en-US" sz="1200" dirty="0"/>
          </a:p>
        </p:txBody>
      </p:sp>
      <p:pic>
        <p:nvPicPr>
          <p:cNvPr id="27" name="Google Shape;56;p13">
            <a:extLst>
              <a:ext uri="{FF2B5EF4-FFF2-40B4-BE49-F238E27FC236}">
                <a16:creationId xmlns:a16="http://schemas.microsoft.com/office/drawing/2014/main" id="{0F0964AD-8EF6-44C4-A141-D62C13BD2D3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Override Judgment — When NOT to Trust AI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to reject AI output is a senior engineering skill.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840480" cy="45720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435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AI changes more than you asked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1243584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Reject; rewrite prompt with stricter scope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3840480" cy="45720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9222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Output ignores an edge case you specified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399" y="1792224"/>
            <a:ext cx="29829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Reject; add edge case to prompt explicitly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3840480" cy="45720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408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Unfamiliar library or pattern introduced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2340864"/>
            <a:ext cx="298295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Research; understand before accepting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3840480" cy="457200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88950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Security-sensitive code (auth, crypto, SQL)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2889504"/>
            <a:ext cx="298295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human-review; never auto-merge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364992"/>
            <a:ext cx="3840480" cy="45720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4381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AI expresses uncertainty ("might be", "could")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3400" y="3438144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Treat as low-confidence; verify manually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3840480" cy="45720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98678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Performance-critical path changed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3986784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Benchmark before and after accepting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3708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will confidently suggest a solution for a problem it does not fully understand. You do.</a:t>
            </a:r>
            <a:endParaRPr lang="en-US" sz="1200" dirty="0"/>
          </a:p>
        </p:txBody>
      </p:sp>
      <p:pic>
        <p:nvPicPr>
          <p:cNvPr id="25" name="Google Shape;56;p13">
            <a:extLst>
              <a:ext uri="{FF2B5EF4-FFF2-40B4-BE49-F238E27FC236}">
                <a16:creationId xmlns:a16="http://schemas.microsoft.com/office/drawing/2014/main" id="{FAD6D148-24F3-46D1-A923-5100C586DB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→ VERIFY → OVERRIDE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workflow for disciplined AI pair-programming: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7132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SPEC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3080" y="1170432"/>
            <a:ext cx="5025490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22529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precise specification: types, behavior, edge cases, constraints.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1591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spec.md or inline comment above function stub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1280160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94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PROMPT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83079" y="2011680"/>
            <a:ext cx="5025491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06654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spec to AI. Ask for implementation + unit tests in one shot.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43230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AI-generated code + test file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52928"/>
            <a:ext cx="1280160" cy="71323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358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58444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83080" y="2852928"/>
            <a:ext cx="5025492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29077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tests. Read the diff. Check security surface. Measure performance.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20240" y="32735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Test results + code review notes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94176"/>
            <a:ext cx="1280160" cy="7132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770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OVERRIDE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783079" y="3694176"/>
            <a:ext cx="5025493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37490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reject, or partially accept. Feed failures back to AI with explanation.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41148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 commit with human-verified code</a:t>
            </a:r>
            <a:endParaRPr lang="en-US" sz="1100" dirty="0"/>
          </a:p>
        </p:txBody>
      </p:sp>
      <p:pic>
        <p:nvPicPr>
          <p:cNvPr id="29" name="Google Shape;56;p13">
            <a:extLst>
              <a:ext uri="{FF2B5EF4-FFF2-40B4-BE49-F238E27FC236}">
                <a16:creationId xmlns:a16="http://schemas.microsoft.com/office/drawing/2014/main" id="{4EBE3A63-E490-4EA2-954B-D4B76333F5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9CD95-C600-CE2B-0F0D-E55B44DC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4F077DC-46C7-6726-5AEB-D10644F6BB9B}"/>
              </a:ext>
            </a:extLst>
          </p:cNvPr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Case Study: Concurrency Flaw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707D4E3-107C-C00E-74E6-9801A2E3D826}"/>
              </a:ext>
            </a:extLst>
          </p:cNvPr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29" name="Google Shape;56;p13">
            <a:extLst>
              <a:ext uri="{FF2B5EF4-FFF2-40B4-BE49-F238E27FC236}">
                <a16:creationId xmlns:a16="http://schemas.microsoft.com/office/drawing/2014/main" id="{CABB4D5B-FFC6-E8E5-3072-C49A7F8AAA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10;p20">
            <a:extLst>
              <a:ext uri="{FF2B5EF4-FFF2-40B4-BE49-F238E27FC236}">
                <a16:creationId xmlns:a16="http://schemas.microsoft.com/office/drawing/2014/main" id="{0E8C8301-AE56-D490-3121-01731974BDEF}"/>
              </a:ext>
            </a:extLst>
          </p:cNvPr>
          <p:cNvSpPr txBox="1"/>
          <p:nvPr/>
        </p:nvSpPr>
        <p:spPr>
          <a:xfrm>
            <a:off x="90311" y="688321"/>
            <a:ext cx="37292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Syntactically Correct but Dangerous</a:t>
            </a:r>
            <a:endParaRPr sz="2400" dirty="0"/>
          </a:p>
        </p:txBody>
      </p:sp>
      <p:sp>
        <p:nvSpPr>
          <p:cNvPr id="31" name="Google Shape;211;p20">
            <a:extLst>
              <a:ext uri="{FF2B5EF4-FFF2-40B4-BE49-F238E27FC236}">
                <a16:creationId xmlns:a16="http://schemas.microsoft.com/office/drawing/2014/main" id="{A5A85ABC-AB06-05E4-AAF8-D8297B850793}"/>
              </a:ext>
            </a:extLst>
          </p:cNvPr>
          <p:cNvSpPr txBox="1"/>
          <p:nvPr/>
        </p:nvSpPr>
        <p:spPr>
          <a:xfrm>
            <a:off x="120051" y="996503"/>
            <a:ext cx="4039354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The AI produces code that successfully checks balance and compiles without errors. In single-user unit testing, this code passes completely.</a:t>
            </a:r>
            <a:endParaRPr dirty="0"/>
          </a:p>
        </p:txBody>
      </p:sp>
      <p:sp>
        <p:nvSpPr>
          <p:cNvPr id="32" name="Google Shape;212;p20">
            <a:extLst>
              <a:ext uri="{FF2B5EF4-FFF2-40B4-BE49-F238E27FC236}">
                <a16:creationId xmlns:a16="http://schemas.microsoft.com/office/drawing/2014/main" id="{09D8942E-73C7-3B25-3655-64FF591508CF}"/>
              </a:ext>
            </a:extLst>
          </p:cNvPr>
          <p:cNvSpPr txBox="1"/>
          <p:nvPr/>
        </p:nvSpPr>
        <p:spPr>
          <a:xfrm>
            <a:off x="90311" y="2736554"/>
            <a:ext cx="372921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C53030"/>
                </a:solidFill>
                <a:latin typeface="Lato"/>
                <a:ea typeface="Lato"/>
                <a:cs typeface="Lato"/>
                <a:sym typeface="Lato"/>
              </a:rPr>
              <a:t>The Systemic Defect:</a:t>
            </a:r>
            <a:endParaRPr sz="2400" dirty="0"/>
          </a:p>
        </p:txBody>
      </p:sp>
      <p:sp>
        <p:nvSpPr>
          <p:cNvPr id="33" name="Google Shape;213;p20">
            <a:extLst>
              <a:ext uri="{FF2B5EF4-FFF2-40B4-BE49-F238E27FC236}">
                <a16:creationId xmlns:a16="http://schemas.microsoft.com/office/drawing/2014/main" id="{A28DD640-AF42-A995-2697-1C3C5350D89B}"/>
              </a:ext>
            </a:extLst>
          </p:cNvPr>
          <p:cNvSpPr txBox="1"/>
          <p:nvPr/>
        </p:nvSpPr>
        <p:spPr>
          <a:xfrm>
            <a:off x="120051" y="3152052"/>
            <a:ext cx="4262378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 separation between the select-query check and the update statement exposes the route to a classic </a:t>
            </a:r>
            <a:r>
              <a:rPr lang="en-US" b="0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transaction race </a:t>
            </a:r>
            <a:r>
              <a:rPr lang="en-US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condition under high concurrency environments.</a:t>
            </a:r>
            <a:endParaRPr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BBA975-579E-AD2D-C7E1-3804F6207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777" y="996503"/>
            <a:ext cx="44323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964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C9218-4228-D857-A0E2-7F8CCF339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98AC1EF-12EB-A091-6F85-3920D41BF80E}"/>
              </a:ext>
            </a:extLst>
          </p:cNvPr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Case Study: Human Intervention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1A554E-5DB3-6F79-FA4D-9D63F9CE107C}"/>
              </a:ext>
            </a:extLst>
          </p:cNvPr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pic>
        <p:nvPicPr>
          <p:cNvPr id="29" name="Google Shape;56;p13">
            <a:extLst>
              <a:ext uri="{FF2B5EF4-FFF2-40B4-BE49-F238E27FC236}">
                <a16:creationId xmlns:a16="http://schemas.microsoft.com/office/drawing/2014/main" id="{180D6588-643D-8867-2987-22CDF6F2F6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3;p21">
            <a:extLst>
              <a:ext uri="{FF2B5EF4-FFF2-40B4-BE49-F238E27FC236}">
                <a16:creationId xmlns:a16="http://schemas.microsoft.com/office/drawing/2014/main" id="{0FD0C55C-839F-0410-B6A1-2B978385CAAE}"/>
              </a:ext>
            </a:extLst>
          </p:cNvPr>
          <p:cNvSpPr txBox="1"/>
          <p:nvPr/>
        </p:nvSpPr>
        <p:spPr>
          <a:xfrm>
            <a:off x="45719" y="834657"/>
            <a:ext cx="38833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Applying </a:t>
            </a:r>
            <a:r>
              <a:rPr lang="en-US" sz="2400" b="1" i="0" u="none" strike="noStrike" cap="none" dirty="0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Override</a:t>
            </a:r>
            <a:r>
              <a:rPr lang="en-US" b="1" i="0" u="none" strike="noStrike" cap="none" dirty="0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 Controls</a:t>
            </a:r>
            <a:endParaRPr sz="2400" dirty="0"/>
          </a:p>
        </p:txBody>
      </p:sp>
      <p:sp>
        <p:nvSpPr>
          <p:cNvPr id="7" name="Google Shape;224;p21">
            <a:extLst>
              <a:ext uri="{FF2B5EF4-FFF2-40B4-BE49-F238E27FC236}">
                <a16:creationId xmlns:a16="http://schemas.microsoft.com/office/drawing/2014/main" id="{57ABD8FB-DC08-1963-1E30-FB6045F4C44C}"/>
              </a:ext>
            </a:extLst>
          </p:cNvPr>
          <p:cNvSpPr txBox="1"/>
          <p:nvPr/>
        </p:nvSpPr>
        <p:spPr>
          <a:xfrm>
            <a:off x="101249" y="1248008"/>
            <a:ext cx="4115153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The engineer intercepts the pull request and issues a targeted architectural correction constraint back to the agentic compiler loop.</a:t>
            </a:r>
            <a:endParaRPr sz="2400" dirty="0"/>
          </a:p>
        </p:txBody>
      </p:sp>
      <p:sp>
        <p:nvSpPr>
          <p:cNvPr id="8" name="Google Shape;225;p21">
            <a:extLst>
              <a:ext uri="{FF2B5EF4-FFF2-40B4-BE49-F238E27FC236}">
                <a16:creationId xmlns:a16="http://schemas.microsoft.com/office/drawing/2014/main" id="{56CD83BE-2769-6968-178C-05905DB9C6D1}"/>
              </a:ext>
            </a:extLst>
          </p:cNvPr>
          <p:cNvSpPr/>
          <p:nvPr/>
        </p:nvSpPr>
        <p:spPr>
          <a:xfrm>
            <a:off x="4401841" y="2606005"/>
            <a:ext cx="3972276" cy="1728335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6;p21">
            <a:extLst>
              <a:ext uri="{FF2B5EF4-FFF2-40B4-BE49-F238E27FC236}">
                <a16:creationId xmlns:a16="http://schemas.microsoft.com/office/drawing/2014/main" id="{E7FE39E2-900C-E642-64EB-3FBEF5F15060}"/>
              </a:ext>
            </a:extLst>
          </p:cNvPr>
          <p:cNvSpPr txBox="1"/>
          <p:nvPr/>
        </p:nvSpPr>
        <p:spPr>
          <a:xfrm>
            <a:off x="4480688" y="2590567"/>
            <a:ext cx="4023713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Human Instruction: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"CRITICAL OVERRIDE: The generated logic is prone to concurrency race conditions. Refactor this sequence to utilize an atomic update inside a native SQL database transaction statement."</a:t>
            </a:r>
            <a:endParaRPr sz="2800" dirty="0"/>
          </a:p>
        </p:txBody>
      </p:sp>
      <p:sp>
        <p:nvSpPr>
          <p:cNvPr id="10" name="Google Shape;227;p21">
            <a:extLst>
              <a:ext uri="{FF2B5EF4-FFF2-40B4-BE49-F238E27FC236}">
                <a16:creationId xmlns:a16="http://schemas.microsoft.com/office/drawing/2014/main" id="{4E69F784-7094-3B40-B325-7405932F110D}"/>
              </a:ext>
            </a:extLst>
          </p:cNvPr>
          <p:cNvSpPr/>
          <p:nvPr/>
        </p:nvSpPr>
        <p:spPr>
          <a:xfrm flipH="1">
            <a:off x="4291611" y="883902"/>
            <a:ext cx="45719" cy="3450437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27815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with AI: 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86384"/>
            <a:ext cx="6035040" cy="822960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9536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as first reviewer, human as FINAL APPROVER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PR review or Claude Code in review mode catches syntax, logic, and style issues. But humans must check business logic.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6035040" cy="822960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1051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AI-generated code with MORE SCRUTINY, not less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looks polished and reads well — which masks subtle logic errors. Spend more time on AI diffs, not less.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88336"/>
            <a:ext cx="6035040" cy="82296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61488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AI-generated diffs UNDER 200 LINES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AI-generated PRs are unreviable. Prompt for incremental changes; reject 500+ line AI PRs.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39312"/>
            <a:ext cx="6035040" cy="82296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12464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AI-generated code in commit messages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059936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"AI-assisted: Claude Code generated this function; human reviewed and tested." Aids future debugging.</a:t>
            </a:r>
            <a:endParaRPr lang="en-US" sz="1200" dirty="0"/>
          </a:p>
        </p:txBody>
      </p:sp>
      <p:pic>
        <p:nvPicPr>
          <p:cNvPr id="17" name="Google Shape;56;p13">
            <a:extLst>
              <a:ext uri="{FF2B5EF4-FFF2-40B4-BE49-F238E27FC236}">
                <a16:creationId xmlns:a16="http://schemas.microsoft.com/office/drawing/2014/main" id="{F4BB2D6B-CE3B-4811-A96B-AE1D1BAC0A1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Pair-Programming Culture in Teams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86384"/>
            <a:ext cx="2670048" cy="3291840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2286000" cy="228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which AI tools are approved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data classification (what can go to external APIs)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0662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IP and copyright policy for AI-generated 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786384"/>
            <a:ext cx="2670048" cy="329184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8778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83280" y="1261872"/>
            <a:ext cx="2286000" cy="228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898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Standardize on SPEC → VERIFY → OVERRIDE loop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0482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"AI-assisted" tag to PR templates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70662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weekly AI tool review sessions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786384"/>
            <a:ext cx="2670048" cy="3291840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8778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1261872"/>
            <a:ext cx="2286000" cy="228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89888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team on prompt engineering (input types, constraints)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0482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effective prompts in a team Notion/Confluence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70662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Pair experienced devs with AI tool beginners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to track: % of PRs with AI-assisted code + defect rate comparison vs human-only PRs.</a:t>
            </a:r>
            <a:endParaRPr lang="en-US" sz="1200" dirty="0"/>
          </a:p>
        </p:txBody>
      </p:sp>
      <p:pic>
        <p:nvPicPr>
          <p:cNvPr id="24" name="Google Shape;56;p13">
            <a:extLst>
              <a:ext uri="{FF2B5EF4-FFF2-40B4-BE49-F238E27FC236}">
                <a16:creationId xmlns:a16="http://schemas.microsoft.com/office/drawing/2014/main" id="{B89E5016-9527-4BDB-A088-471E5EDE13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Summary: Structured AI Pair-Programming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pair programming amplifies developer judgment — it does not replace it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90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Vibe coding (accept without reading) creates invisible technical debt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2082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SPEC → VERIFY → OVERRIDE is the disciplined workflow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5117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Verification: syntax → unit tests → integration → security → code review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0815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Override judgment: reject AI output when scope exceeds, security is at risk, or logic is unclear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 culture: policy, workflow standardization, and upskilling all matter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447074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"AI will write the code, but you will own the consequences."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vs Buy Decision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adding AI to any system component, ask: does AI actually improve the outcome vs a rule-based or statistical approach?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38912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the problem well-defined with clear rules?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Traditional logic wins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4389120" cy="457200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2024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the input involve natural language or images?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AI is well-suited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4389120" cy="45720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6888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compliance, auditability, or determinism required?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Traditional or hybrid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4389120" cy="457200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1752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 you have sufficient labeled data for fine-tuning?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0175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Use few-shot with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493008"/>
            <a:ext cx="4389120" cy="457200"/>
          </a:xfrm>
          <a:prstGeom prst="rect">
            <a:avLst/>
          </a:prstGeom>
          <a:solidFill>
            <a:srgbClr val="F3E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56616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latency &lt;100ms required?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56616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Avoid large LLMs; use small/quantized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4389120" cy="457200"/>
          </a:xfrm>
          <a:prstGeom prst="rect">
            <a:avLst/>
          </a:prstGeom>
          <a:solidFill>
            <a:srgbClr val="E0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11480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cost at scale a concern (&gt;1M calls/day)?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11480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Open-weight or traditional logic</a:t>
            </a:r>
            <a:endParaRPr lang="en-US" sz="1200" dirty="0"/>
          </a:p>
        </p:txBody>
      </p:sp>
      <p:pic>
        <p:nvPicPr>
          <p:cNvPr id="24" name="Google Shape;56;p13">
            <a:extLst>
              <a:ext uri="{FF2B5EF4-FFF2-40B4-BE49-F238E27FC236}">
                <a16:creationId xmlns:a16="http://schemas.microsoft.com/office/drawing/2014/main" id="{DADCEDFA-9E71-4D89-9BC3-547C54076B5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Excels: Unstructured Data, NL Interfaces, Creativity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4114800" cy="1261872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Chatbots, voice assistants, form filling from speech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Language is inherently ambiguous; rules can't handle all phrasings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1261872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778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 Processing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Contract parsing, medical note extraction, email classification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Structure is variable; regex and rules break on format changes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21992"/>
            <a:ext cx="4114800" cy="126187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951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Generation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679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Marketing copy, code generation, design ideation, summarization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 single "correct" output; creativity requires generalization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221992"/>
            <a:ext cx="4114800" cy="126187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2951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&amp; Retrieval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679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FAQ systems, knowledge bases, product search by meaning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718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Keyword search fails on synonyms and intent; embeddings capture semantics</a:t>
            </a:r>
            <a:endParaRPr lang="en-US" sz="1100" dirty="0"/>
          </a:p>
        </p:txBody>
      </p:sp>
      <p:pic>
        <p:nvPicPr>
          <p:cNvPr id="21" name="Google Shape;56;p13">
            <a:extLst>
              <a:ext uri="{FF2B5EF4-FFF2-40B4-BE49-F238E27FC236}">
                <a16:creationId xmlns:a16="http://schemas.microsoft.com/office/drawing/2014/main" id="{9ED7830A-9BEC-4013-952C-5FF40F8097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Traditional Logic Wins: Rules, Compliance, Determinism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4114800" cy="1261872"/>
          </a:xfrm>
          <a:prstGeom prst="rect">
            <a:avLst/>
          </a:prstGeom>
          <a:solidFill>
            <a:srgbClr val="FFEB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Logic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Tax calculations, banking rules, insurance eligibility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Rules are explicit, auditable, and must produce identical outputs every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126187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778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High-throughput, Low-latency APIs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Payment routing, inventory checks, auth decisions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&lt;10ms required; LLM inference is 200–2000ms even with caching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21992"/>
            <a:ext cx="4114800" cy="1261872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951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Business Rules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679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Discount rules, routing logic, pricing engines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Same input must always produce same output; probabilistic AI introduces variance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221992"/>
            <a:ext cx="4114800" cy="126187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2951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679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ETL pipelines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718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Schema is known; transformation is deterministic; AI adds latency and cost</a:t>
            </a:r>
            <a:endParaRPr lang="en-US" sz="1100" dirty="0"/>
          </a:p>
        </p:txBody>
      </p:sp>
      <p:pic>
        <p:nvPicPr>
          <p:cNvPr id="21" name="Google Shape;56;p13">
            <a:extLst>
              <a:ext uri="{FF2B5EF4-FFF2-40B4-BE49-F238E27FC236}">
                <a16:creationId xmlns:a16="http://schemas.microsoft.com/office/drawing/2014/main" id="{0414296A-6ACA-440F-8702-C42A43CF56F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Patterns: Hybrid AI + Traditional Architectures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systems use AI for selected components, not end-to-end. Hybrid patterns maximize accuracy and cost-efficiency.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6035040" cy="640080"/>
          </a:xfrm>
          <a:prstGeom prst="rect">
            <a:avLst/>
          </a:prstGeom>
          <a:solidFill>
            <a:srgbClr val="E8EA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Extract, Rules → Validate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 intake: AI extracts fields; deterministic validator checks types and ranges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48256"/>
            <a:ext cx="603504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2140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NL Interface, Traditional for Business Logic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1401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Chatbot understands intent (AI); order processing follows rule engine (traditional)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98064"/>
            <a:ext cx="6035040" cy="640080"/>
          </a:xfrm>
          <a:prstGeom prst="rect">
            <a:avLst/>
          </a:prstGeom>
          <a:solidFill>
            <a:srgbClr val="FCE4E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7121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Anomaly Detection, Human for Decision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16382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Fraud scoring: AI flags suspicious transactions; human reviews before blocking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47872"/>
            <a:ext cx="6035040" cy="64008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210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Mode: AI parallel to existing system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91363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 AI and rules side-by-side; compare outputs for 4 weeks before cutover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31596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Start with shadow mode — measure accuracy before replacing production logic.</a:t>
            </a:r>
            <a:endParaRPr lang="en-US" sz="1200" dirty="0"/>
          </a:p>
        </p:txBody>
      </p:sp>
      <p:pic>
        <p:nvPicPr>
          <p:cNvPr id="19" name="Google Shape;56;p13">
            <a:extLst>
              <a:ext uri="{FF2B5EF4-FFF2-40B4-BE49-F238E27FC236}">
                <a16:creationId xmlns:a16="http://schemas.microsoft.com/office/drawing/2014/main" id="{F336006A-6127-4BD6-909F-6B0C28C906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Summary &amp; Decision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585216"/>
            <a:ext cx="7315200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excels at: NL understanding, unstructured data, creative generation, semantic 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logic wins at: compliance, determinism, latency-critical, ETL pipelines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83664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patterns: AI extracts → rules validate; AI interfaces → traditional processes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6949440" cy="23317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04288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Checklist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Is the problem defined enough for rules? → Use rules first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6265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Does the input arrive as natural language or images? → AI candidate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7355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Is &lt;100ms latency required? → Avoid large LLMs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8444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Does compliance require auditability? → Deterministic logic required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89534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Cost at &gt;1M calls/day? → Open-weight or traditional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Novel task with no labeled data? → Few-shot prompting</a:t>
            </a:r>
            <a:endParaRPr lang="en-US" sz="1200" dirty="0"/>
          </a:p>
        </p:txBody>
      </p:sp>
      <p:pic>
        <p:nvPicPr>
          <p:cNvPr id="17" name="Google Shape;56;p13">
            <a:extLst>
              <a:ext uri="{FF2B5EF4-FFF2-40B4-BE49-F238E27FC236}">
                <a16:creationId xmlns:a16="http://schemas.microsoft.com/office/drawing/2014/main" id="{29FFA84D-212F-4420-8B88-9A09637E22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299701" y="698290"/>
            <a:ext cx="8204700" cy="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lang="en" sz="8000" b="1" dirty="0">
                <a:solidFill>
                  <a:srgbClr val="FF0000"/>
                </a:solidFill>
                <a:latin typeface="Edwardian Script ITC" panose="030303020407070D0804" pitchFamily="66" charset="0"/>
              </a:rPr>
              <a:t>Thank you</a:t>
            </a:r>
            <a:endParaRPr sz="8000" b="1" dirty="0">
              <a:solidFill>
                <a:srgbClr val="FF0000"/>
              </a:solidFill>
              <a:latin typeface="Edwardian Script ITC" panose="030303020407070D0804" pitchFamily="66" charset="0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550624" y="2336337"/>
            <a:ext cx="15915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lang="en" sz="2000">
                <a:solidFill>
                  <a:schemeClr val="dk1"/>
                </a:solidFill>
              </a:rPr>
              <a:t>Instructor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700324" y="2791937"/>
            <a:ext cx="1292100" cy="1228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039762" y="4100012"/>
            <a:ext cx="2767914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lang="en" sz="1600" b="1" dirty="0">
                <a:solidFill>
                  <a:schemeClr val="dk1"/>
                </a:solidFill>
              </a:rPr>
              <a:t>Prof. Rajat Subhra Chakraborty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lang="en" sz="1600" b="1" dirty="0">
                <a:solidFill>
                  <a:schemeClr val="dk1"/>
                </a:solidFill>
                <a:hlinkClick r:id="rId3"/>
              </a:rPr>
              <a:t>rschakraborty@cse.iitkgp.ac.in</a:t>
            </a:r>
            <a:r>
              <a:rPr lang="en" sz="1600" b="1" dirty="0">
                <a:solidFill>
                  <a:schemeClr val="dk1"/>
                </a:solidFill>
              </a:rPr>
              <a:t> </a:t>
            </a:r>
            <a:endParaRPr sz="16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4C4AFE-B56F-4915-AB7E-F74D94C274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57</a:t>
            </a:fld>
            <a:endParaRPr lang="en"/>
          </a:p>
        </p:txBody>
      </p:sp>
      <p:pic>
        <p:nvPicPr>
          <p:cNvPr id="14" name="Google Shape;56;p13">
            <a:extLst>
              <a:ext uri="{FF2B5EF4-FFF2-40B4-BE49-F238E27FC236}">
                <a16:creationId xmlns:a16="http://schemas.microsoft.com/office/drawing/2014/main" id="{BD9917C9-DB81-41E5-AEF9-BCC2608E29B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4401" y="0"/>
            <a:ext cx="639599" cy="6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CB7AFD-D270-D898-2463-18AE6A180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274" y="2791937"/>
            <a:ext cx="1228200" cy="1228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6222</Words>
  <Application>Microsoft Macintosh PowerPoint</Application>
  <PresentationFormat>On-screen Show (16:9)</PresentationFormat>
  <Paragraphs>912</Paragraphs>
  <Slides>57</Slides>
  <Notes>57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Arial</vt:lpstr>
      <vt:lpstr>Arial Black</vt:lpstr>
      <vt:lpstr>Calibri</vt:lpstr>
      <vt:lpstr>Courier New</vt:lpstr>
      <vt:lpstr>Edwardian Script ITC</vt:lpstr>
      <vt:lpstr>Lato</vt:lpstr>
      <vt:lpstr>Merriweather</vt:lpstr>
      <vt:lpstr>Public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IEEE KGP Section Chair</cp:lastModifiedBy>
  <cp:revision>67</cp:revision>
  <dcterms:created xsi:type="dcterms:W3CDTF">2026-05-17T08:41:36Z</dcterms:created>
  <dcterms:modified xsi:type="dcterms:W3CDTF">2026-07-16T10:38:23Z</dcterms:modified>
</cp:coreProperties>
</file>