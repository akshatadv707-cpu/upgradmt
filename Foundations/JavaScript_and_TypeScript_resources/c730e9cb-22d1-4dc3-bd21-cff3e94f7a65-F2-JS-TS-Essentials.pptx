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8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446520"/>
            <a:ext cx="12192000" cy="411480"/>
          </a:xfrm>
          <a:prstGeom prst="rect">
            <a:avLst/>
          </a:prstGeom>
          <a:solidFill>
            <a:srgbClr val="F8F8F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 · F2 · JavaScript &amp; TypeScript Essentials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601200" y="64465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12-Jul-2026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55448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6517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JavaScript &amp; TypeScript Essentials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For engineers who know Java or Python and are new to JS/TS.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4846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Sunday, 12-Jul-2026   ·   10:00 – 13:00   ·   Experienced engineers welcome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Today's agenda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</a:rPr>
              <a:t>Part 1 — Modern JavaScript (syntax you need for Module 1)</a:t>
            </a:r>
            <a:endParaRPr lang="en-US" sz="20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</a:rPr>
              <a:t>const/let, arrow functions, destructuring, modules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</a:rPr>
              <a:t>Part 2 — Async JavaScript &amp; the Node toolchain</a:t>
            </a:r>
            <a:endParaRPr lang="en-US" sz="20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</a:rPr>
              <a:t>Promises, async / await, npm &amp; running scripts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</a:rPr>
              <a:t>Part 3 — TypeScript core</a:t>
            </a:r>
            <a:endParaRPr lang="en-US" sz="20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</a:rPr>
              <a:t>types, interfaces, generics, discriminated unions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</a:rPr>
              <a:t>3 hours · hands-on practice · two short breaks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Agenda at a glance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023360"/>
                <a:gridCol w="487375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D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Block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D3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2D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10:00 – 10:10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Welcome &amp; setup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Goals, JS/TS landscape, environment check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10:10 – 10:55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Part 1 — Modern JavaScript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const/let, arrows, destructuring, modules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10:55 – 11:00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Break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11:00 – 11:55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Part 2 — Async &amp; Node toolchain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Promises, async/await, npm &amp; scripts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11:55 – 12:05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Break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12:05 – 12:55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Part 3 — TypeScript core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types, interfaces, generics, unions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12:55 – 13:00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Wrap-up &amp; Q&amp;A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A1A2E"/>
                          </a:solidFill>
                        </a:rPr>
                        <a:t>Module 1 bridge, key takeaways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How this session works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</a:rPr>
              <a:t>We assume you are an experienced engineer who has not used JS/TS.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Concept slides include Java/Python bridges — we focus on what is different.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LIVE slides are taught in session; SELF-STUDY slides are reference material.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After each subtopic there is a Practice slide; each part ends with a Challenge.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TypeScript (Part 3) is the highest priority for Module 1.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WELCOME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Slide delivery guide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2E7D32"/>
                </a:solidFill>
              </a:rPr>
              <a:t>LIVE</a:t>
            </a:r>
            <a:pPr lvl="1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2E"/>
                </a:solidFill>
              </a:rPr>
              <a:t> — taught in the live session (concepts, code, practices, challenges)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5B6B7B"/>
                </a:solidFill>
              </a:rPr>
              <a:t>SELF-STUDY</a:t>
            </a:r>
            <a:pPr lvl="1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2E"/>
                </a:solidFill>
              </a:rPr>
              <a:t> — optional depth; read after class or if time allows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F57F17"/>
                </a:solidFill>
              </a:rPr>
              <a:t>OPTIONAL</a:t>
            </a:r>
            <a:pPr lvl="1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A1A2E"/>
                </a:solidFill>
              </a:rPr>
              <a:t> — skip in session if running over time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i="1" dirty="0">
                <a:solidFill>
                  <a:srgbClr val="1A1A2E"/>
                </a:solidFill>
              </a:rPr>
              <a:t>Part 1 is the most time-pressured block — protect Part 3 time.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ORIENTATION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JS/TS for experienced engineers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Java &amp; Python backgrounds · skip the basics, learn what is different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JS &amp; TS in 90 seconds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Dynamic typing at runtime — TypeScript adds compile-time checks (like Java types, enforced by the compiler).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Single-threaded event loop — unlike Java thread pools; concurrency is cooperative, not parallel threads.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Runs in the browser and on servers via Node.js — same language, two runtimes.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ES modules (import/export) — like Java packages; watch for default vs named exports.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You already know variables, functions, and control flow — today we cover JS/TS idioms.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Environment check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b="1" dirty="0">
                <a:solidFill>
                  <a:srgbClr val="1A1A2E"/>
                </a:solidFill>
              </a:rPr>
              <a:t>Open a terminal and confirm: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node -v  (Node.js v20+ LTS)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npm -v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Open VS Code (or your editor) with the training materials folder.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i="1" dirty="0">
                <a:solidFill>
                  <a:srgbClr val="1A1A2E"/>
                </a:solidFill>
              </a:rPr>
              <a:t>Raise your hand if anything fails — we fix it before Part 1.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ORIENTATION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how JavaScript actually runs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Engine: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Node uses Google's V8 engine to turn your JS into machine code and run it.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Single-threaded: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one call stack — unlike your Java executor pools; async work is queued, not threaded.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Call stack: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function calls pile on and pop off; a deep loop of calls throws 'stack overflow'.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Interpreted + JIT: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V8 also compiles hot code paths on the fly for speed.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Dynamically typed: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a variable can hold any type at runtime; TypeScript adds compile-time checks.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a() { b();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b() { c();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c()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console.log('hi');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stack while c runs: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c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b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 1 · 10:10 – 10:55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Modern JavaScript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const/let · arrow functions · destructuring · modules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const and let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const by default; use let when the binding must be reassigned.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Both are block-scoped (inside the nearest { }), unlike var which leaks to the function.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Avoid var in modern code — it behaves like pre-Java-8 scoping surprises.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const is like final in Java; let is a regular local variable. Both are block-scoped, unlike Python's function-level globals.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const and let in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= a box you will NOT change later (use this by default)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"Alice";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30;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= a box whose contents CAN change later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score = 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 10;          // allowed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const cannot be reassigned: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city = "Paris";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city = "London";  // error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const stops reassignment, not mutation — object/array contents can still change (unlike a deeply immutable Java object).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Make some variables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Create a const called favouriteColour with your favourite colour.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Create a let called counter set to 0, then reassign it to 5.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console.log both values.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Try reassigning your const — see the error, then remove that line.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~5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VARIABLES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scope, hoisting &amp; const truth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Block scope: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let/const only exist inside the nearest { } block; var leaks out to the whole function.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Hoisting + TDZ: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let/const are hoisted but unusable until declared — the 'temporal dead zone'.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const is not 'frozen':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it stops reassigning the variable, but object/array contents can still change.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Object.freeze():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use it to make the contents truly read-only (shallow).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Value vs reference: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primitives copy by value; objects/arrays copy the reference (a pointer).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 2];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nums.push(3);   // OK — same array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nums = [];   // error: reassignment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{ n: 1 };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a;    // same object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b.n = 9;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console.log(a.n); // 9 (!)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let x = 1;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console.log(x) -&gt; not defined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Arrow functions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Arrow functions (=&gt;) are the idiomatic way to write short functions in modern JS.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Single-expression bodies return automatically; multi-line bodies need { } and an explicit return.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Arrow functions capture lexical this from the surrounding scope — different from Java method references.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Syntax sugar over function declarations — like a lambda, but this binding follows the enclosing scope, not the call site.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Arrow functions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Traditional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add(a, b) { return a + b;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Arrow version — same result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add = (a, b) =&gt; a + b;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One input, one line: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= n =&gt; n * 2;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console.log(double(5));   // 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Write your own function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 function greet(name) that returns  "Hi, &lt;name&gt;!"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Call it with your name and console.log the result.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Rewrite greet as an arrow function.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Bonus: write triple(n) as an arrow function and print triple(4).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FUNCTIONS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closures, this &amp; first-class functions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First-class: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functions are values — store them in variables, pass them as arguments, return them.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Closure: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an inner function 'remembers' variables from where it was created, even after that outer call ends.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Arrow vs regular this: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arrows have no own this (they use the surrounding one); regular functions set this by how they're called.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Default params: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function f(x = 10) uses 10 when x is undefined.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Callbacks: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passing a function to another function is the basis of array methods and async code.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counter()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n = 0;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() =&gt; ++n; // closure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next = counter();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next(); // 1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next(); // 2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[1,2,3].map(x =&gt; x * 2);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callback -&gt; [2,4,6]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Template literals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Backtick strings (`) support interpolation with ${expression} and multi-line text.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Prefer them over string concatenation with + — cleaner and less error-prone.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Like Python f-strings or Java text blocks with formatted placeholders.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TEXT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Template literals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name = "Alice";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age = 30;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Old way — messy joining with +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"Hi " + name + ", age " + age;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 way — backticks + ${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`Hi ${name}, age ${age}`;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console.log(b);   // Hi Alice, age 30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FFF8E1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7F17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OPTIONAL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TEXT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Build a sentence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Make variables city and country.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Use a template literal to print:  "I live in &lt;city&gt;, &lt;country&gt;."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Add a number variable population and include it in the sentence.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~4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DESTRUCTURING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Unpacking values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Pull values out of arrays (by position) or objects (by property name) in one line.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Supports defaults, renaming, and nesting — common in API response handling.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Like Python tuple/list unpacking and dict unpacking — no direct Java equivalent until records/pattern matching.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DESTRUCTURING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Arrays and objects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Array — grab by position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colours = ["red", "green", "blue"];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[first, second] = colours;   // first=red, second=green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Object — grab by name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user = { name: "Alice", age: 30 };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{ name, age } = user;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console.log(name, age);            // Alice 30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DESTRUCTURING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Unpack 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Make an array  ["apple", "banana", "cherry"]  and destructure the first two items.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Make an object with keys title and year; destructure both into variables.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console.log all four values.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~5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SPREAD &amp; REST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Copying and collecting (...)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Spread (...) copies or merges arrays and objects into new values.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Rest (...) collects remaining arguments or properties into an array.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Spread is like copying a Java List with new ArrayList&lt;&gt;(other); rest is like varargs.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SPREAD &amp; REST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... operator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Spread — copy / merge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[1, 2];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[...a, 3];               // [1, 2, 3]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merged = { ...user, age: 31 };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— collect the leftovers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sum(...numbers)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numbers.reduce((t, n) =&gt; t + n, 0);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console.log(sum(1, 2, 3, 4));      // 10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SPREAD &amp; REST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Use the dots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Make two arrays and combine them into one using ...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Make an object, then make a copy with one field changed using ...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 function max(...nums) that returns the biggest number (hint: Math.max(...nums)).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DESTRUCTURING, SPREAD &amp; REST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shallow copies &amp; immutable updates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Shallow copy: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{ ...obj } and [ ...arr ] copy only the top level; nested objects are still shared.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Immutable updates: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instead of mutating, build a new object with ... and the changed field — the React/Redux pattern.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Deep clone: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for nested data use structuredClone(obj) (modern) to fully copy.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Destructuring defaults: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const { x = 5 } = obj sets a fallback when the key is missing.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Nested + rename: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const { user: { name: userName } } = data pulls deep values and renames.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state =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user: { name: 'A' },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shallow: nested shared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copy = { ...state };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copy.user.name = 'B';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state.user.name; // 'B' (!)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deep copy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deep =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structuredClone(state);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Splitting code into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export makes bindings available to other files; import brings them in.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Named exports use { }; default export allows one primary export per file.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 Node, enable ESM with "type": "module" in package.json or use .mjs files.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Like Java packages and public classes — but imports are by file path, not package name.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MODULES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import / export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math.js  — share these with other files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PI = 3.14159;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function add(a, b) { return a + b;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app.js  — use them here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{ PI, add } from './math.js';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console.log(PI);          // 3.14159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console.log(add(2, 3));   // 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Names in { } must match what the other file exports.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Make a module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Create greetings.js that exports a function sayHi(name).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Create main.js that imports sayHi and calls it with your name.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Run main.js and confirm the greeting prints.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named vs default, ESM vs CommonJS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Named exports: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many per file; import by exact name in { }. Best for tree-shaking and discoverability.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Default export: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one per file; import under any name. Handy but easy to name inconsistently.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ESM: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the modern standard: import/export. Enabled by "type": "module" or .mjs files.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CommonJS: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older Node style: require() and module.exports. Still very common.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Live bindings: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ESM imports reflect later changes to the exported value; they're read-only views.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ESM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const x = 1;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default fn;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fn, { x } from './m.js';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CommonJS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fn = require('./m');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module.exports = fn;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 1 ·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2D3D"/>
                </a:solidFill>
              </a:rPr>
              <a:t>Challenge: Put Part 1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Make a file people.js that exports an array of 3 person objects (name, age).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In main.js, import it and use destructuring to read each person's name and age.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an arrow function describe(person) that returns a template-literal sentence.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Print a describe(...) line for every person.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2D3D"/>
                </a:solidFill>
              </a:rPr>
              <a:t>~12 min · combine what you just learned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BREAK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5 minutes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Back at 11:00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 2 · 11:00 – 11:55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JavaScript &amp; Node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Promises · async / await · npm &amp; scripts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asynchronous code?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I/O (network, files, timers) must not block the single thread while waiting.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JS starts the slow work, continues executing, and resumes when the result is ready.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This model is fundamental to Node.js servers and browser event handling.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Unlike blocking a Java thread, async JS uses callbacks/Promises on one thread — closer to Python asyncio than to java.util.concurrent.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Predict the order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In a file, write these three lines in order: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console.log("A");  setTimeout(() =&gt; console.log("B"), 1000);  console.log("C");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Before running: guess what order A, B, C print in.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Run it. Were you right? Discuss why B comes last.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~5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the event loop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Call stack: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runs your synchronous code first, to completion.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Web/Node APIs: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timers, I/O, and fetch run outside the stack and finish in the background.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Callback queues: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when done, their callbacks wait in a queue for the stack to be empty.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Event loop: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the loop that moves queued callbacks onto the empty stack.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Microtasks vs macrotasks: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Promise callbacks (microtasks) run before timers (macrotasks) — so .then beats setTimeout(0).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console.log('A');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() =&gt; console.log('B'), 0);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.then(() =&gt; console.log('C'));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console.log('D');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Output: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 D  C  B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PROMISES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Promises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Promise represents a value that will be available later (or an error).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States: pending, fulfilled (resolve), rejected (reject).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.then() handles success; .catch() handles failure; chains compose async steps.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Like Java CompletableFuture or Future — a handle to a result that is not ready yet.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PROMISES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Using a Promise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fetchUser(id)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new Promise((resolve) =&gt;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setTimeout(() =&gt; resolve({ id, name: 'Alice' }), 500);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fetchUser(1)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.then(user =&gt; console.log(user.name))   // runs when ready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.catch(err =&gt; console.error(err));      // runs if it fails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PROMISES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Wait for a result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Copy the fetchUser function above into a file.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Call fetchUser(2) and .then(...) to print the returned name.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Add a .catch(...) that logs "Something went wrong".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/ AWAIT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/ await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marks a function that can await Promises inside it.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await pauses until the Promise settles, then unwraps the value.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try/catch for errors — same control flow you already know.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Same mental model as Python async/await or Java's async patterns — linear code that waits without blocking the thread.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/ AWAIT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/ await in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showUser(id)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user = await fetchUser(id);   // pause until ready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console.log(user.name);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catch (err)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console.error(err);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showUser(1);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Same behaviour as .then()/.catch(), but reads like ordinary step-by-step code.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/ AWAIT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Rewrite with await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Take your Promise practice and rewrite it using an async function.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Use await to get the user, then console.log the name.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Wrap the code in try/catch.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PARALLEL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Sequential vs parallel awaits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await in series waits for each task in turn — total time adds up.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When tasks are independent, start them together with Promise.all([...]).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Promise.all rejects fast if any promise fails; use allSettled to keep all results.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Like launching multiple CompletableFuture.supplyAsync calls and then CompletableFuture.allOf().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PARALLEL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Sequential vs parallel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Sequential — 500ms + 500ms = 1000ms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 = await fetchUser(1);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b = await fetchUser(2);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Parallel — both at once, ~500ms total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[x, y] = await Promise.all([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fetchUser(1),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fetchUser(2),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PARALLEL WORK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Speed it up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Call fetchUser twice, one after the other, with await.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Now rewrite it using Promise.all so both run together.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Print both names from the parallel version.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~5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ASYNC PATTERNS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combinators, loops &amp; pitfalls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Promise.all: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waits for all; rejects fast if any one fails.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Promise.allSettled: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waits for all and reports each success/failure — nothing is lost.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Promise.race: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settles as soon as the first one settles (great for timeouts).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await in a for-loop: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runs sequentially; to parallelise, map to promises then Promise.all them.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Forgotten await: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you get a pending Promise, not the value — a very common bug.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Unhandled rejection: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always .catch or try/catch, or Node warns/exits.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sequential (slow)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(const id of ids)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fetchUser(id);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parallel (fast)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Promise.all(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ids.map(fetchUser)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NODE &amp; NPM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Node.js and npm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Node.js runs JavaScript outside the browser — we use it for tooling and servers.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npm is the package manager; package.json declares project metadata and dependencies.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scripts in package.json are named commands (npm run &lt;name&gt;).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npm + package.json are like Maven/Gradle (pom.xml/build.gradle) or pip + requirements.txt; npm scripts are like Make targets.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NODE &amp; NPM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package.json &amp; running scripts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"my-app",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"type": "module",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"scripts":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"start": "node main.js",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"greet": "node greetings.js"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 the terminal: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          # install listed packages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greet        # run the 'greet' script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            # shortcut for the 'start' script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NODE &amp; NPM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Add and run a script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Open (or create) package.json in your project folder.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Add a script:  "start": "node main.js"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Run it with:  npm start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Add a second script of your own and run it with npm run &lt;name&gt;.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NODE &amp; NPM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dependencies, semver &amp; lockfiles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dependencies vs devDependencies: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runtime needs vs build/test-only tools (--save-dev).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Semantic versioning: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MAJOR.MINOR.PATCH — breaking . feature . fix.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^ and ~: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^1.2.3 allows minor+patch updates; ~1.2.3 allows patch only.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package-lock.json: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pins exact installed versions so every machine matches — commit it.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npm ci: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clean, reproducible install from the lockfile (use in CI).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npx: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run a package without installing it globally, e.g. npx tsc.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"dependencies":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"chalk": "^5.3.0"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"devDependencies":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"typescript": "^5.3.0"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reproducible install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ci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 2 ·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2D3D"/>
                </a:solidFill>
              </a:rPr>
              <a:t>Challenge: Put Part 2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fetchProduct(id) that returns a Promise resolving to { id, name } after a short delay.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an async function that fetches products 1, 2 and 3 in parallel with Promise.all.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Print each product's name; wrap everything in try/catch.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Add an npm script 'products' that runs your file, and start it with npm run products.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2D3D"/>
                </a:solidFill>
              </a:rPr>
              <a:t>~12 min · combine what you just learned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BREAK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10 minutes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Back at 12:05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 3 · 12:05 – 12:55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TypeScript core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40233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3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 · interfaces · generics · discriminated unions · highest priority for Module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Why TypeScript?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JavaScript type errors often surface only at runtime in production.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TypeScript adds static types checked at compile time — before the code runs.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Better editor support: autocomplete, refactors, and inline errors.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Module 1 codebases are TypeScript-first — this block is essential.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Like adding Java's type system to JS, but types are erased at runtime (no JVM-style type info at run time).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JS mistake vs TS safety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JavaScript — crashes only when it runs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greet(name) { return name.toUpperCase();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greet(42);   // runtime error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TypeScript — caught while typing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greet(name: string) { return name.toUpperCase();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greet(42);   // error: number is not a string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': string' is a type label. TypeScript checks it for you.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Add a type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In a .ts file, write a function square(n: number): number that returns n * n.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Call square(5) and log it.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Now try square("5") — notice the red squiggle, then remove that line.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~5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Basic types &amp; inference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Primitives: string, number, boolean; arrays with T[] or Array&lt;T&gt;.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Annotate when the intent is not obvious; otherwise let TypeScript infer.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strict mode in tsconfig catches null/undefined issues early.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Familiar from Java primitives and generics; inference is like local variable type inference in modern Java.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 in practice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title: string = "F2";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count: number = 3;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active: boolean = true;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tags: string[] = ["js", "ts"];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Inference — no label needed, TS knows these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"Alice";     // string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nums = [1, 2, 3];  // number[]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Type some values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Declare a string, a number, and a boolean with explicit types.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Declare an array of numbers called scores.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Try assigning a string into scores — see the error, then fix it.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~5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61</a:t>
            </a:fld>
            <a:endParaRPr lang="en-US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TYPESCRIPT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structural typing, any vs unknown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Structural typing: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TS matches by shape, not by name — unlike Java/C# nominal interfaces. If it has the right fields, it fits.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any: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turns checking off for that value — avoid it; it silently spreads.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unknown: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safe 'any': you must narrow it (check the type) before using it.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Type erasure: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types vanish at compile time — they don't exist while the code runs.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Literal &amp; union types: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'a' | 'b' restricts to exact values; great for options/status.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strict mode: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tsconfig "strict": true catches null/undefined and more — keep it on.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a: any = 5;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a.foo.bar; // no error (risky)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u: unknown = getData();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u.trim(); must narrow first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(typeof u === 'string')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u.trim(); // ok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62</a:t>
            </a:fld>
            <a:endParaRPr 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Describing object shapes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 and type alias describe the shape of objects and unions.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Optional fields (?), readonly, and extends compose larger types.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Structural typing: any object with matching fields satisfies the interface.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Unlike Java interfaces (nominal), TS checks shape at compile time — two unrelated classes with the same fields both match.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63</a:t>
            </a:fld>
            <a:endParaRPr 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 &amp; type alias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User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string;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email?: string;            // optional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readonly createdAt: Date;  // can't change later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u: User = { id: 1, name: 'Alice', createdAt: new Date() };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ID = string | number;   // alias (also allows unions)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64</a:t>
            </a:fld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Design a shape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an interface Book with title (string), pages (number), author (string).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Make an optional field year and a readonly field id.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Create one Book object that satisfies the interface.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65</a:t>
            </a:fld>
            <a:endParaRPr 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INTERFACES &amp; TYPES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interface vs type, and utility types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interface: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best for object shapes; supports 'extends' and declaration merging.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type alias: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does objects too, plus unions, tuples, and mapped/conditional types.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Composition: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extend interfaces, or combine types with &amp; (intersection).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Utility types: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Partial&lt;T&gt;, Pick&lt;T,K&gt;, Omit&lt;T,K&gt;, Readonly&lt;T&gt;, Record&lt;K,V&gt; reshape existing types.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index signatures: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[key: string]: number types a dictionary of unknown keys.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User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number; name: string;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Admin = User &amp;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role: 'admin';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Draft = Partial&lt;User&gt;;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Public = Omit&lt;User,'id'&gt;;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66</a:t>
            </a:fld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GENERICS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Reusable, type-safe code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&lt;T&gt; is a type parameter filled in at each call site.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Constraints (extends) limit which types are allowed.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Inference usually means you rarely write &lt;T&gt; explicitly at call sites.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Same idea as Java generics &lt;T&gt; — reusable containers and functions without losing type safety.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67</a:t>
            </a:fld>
            <a:endParaRPr lang="en-US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GENERICS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generic function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023360"/>
          </a:xfrm>
          <a:prstGeom prst="roundRect">
            <a:avLst>
              <a:gd name="adj" fmla="val 1818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&lt;T&gt; is a stand-in for whatever type is passed in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first&lt;T&gt;(items: T[]): T | undefined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items[0];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first([1, 2, 3]);        // T is number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first(["a", "b"]);       // T is string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576072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TypeScript fills in T automatically based on what you pass.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68</a:t>
            </a:fld>
            <a:endParaRPr lang="en-US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GENERICS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Write a generic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 generic function last&lt;T&gt;(items: T[]): T | undefined that returns the last item.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Call it with an array of numbers and an array of strings.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Confirm the editor infers the right type for each call.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~6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69</a:t>
            </a:fld>
            <a:endParaRPr 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GENERICS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constraints, defaults &amp; inference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Constraints: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&lt;T extends { id: number }&gt; requires T to have certain fields.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Multiple params: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&lt;K, V&gt; for maps; keyof links a key type to an object's keys.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Defaults: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&lt;T = string&gt; gives a fallback type when none is provided.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Inference: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you rarely write &lt;T&gt; at call sites — TS infers it from the arguments.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Generic interfaces: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reusable containers, e.g. ApiResponse&lt;T&gt; = { data: T; ok: boolean }.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prop&lt;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T, K extends keyof T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&gt;(obj: T, key: K): T[K]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obj[key];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u = { id: 1, name: 'A' };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prop(u, 'name'); // string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prop(u, 'x') error: not a key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70</a:t>
            </a:fld>
            <a:endParaRPr lang="en-US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DISCRIMINATED UNIONS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Tagged unions for safe branching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Model a value as one of several shapes using a shared discriminant field (e.g. kind).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switch on the discriminant narrows the type in each branch.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 default: never for exhaustiveness — the compiler errors if you miss a case.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Used heavily in Module 1 for API responses, state, and UI actions.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57200" y="5120640"/>
            <a:ext cx="11274552" cy="1143000"/>
          </a:xfrm>
          <a:prstGeom prst="roundRect">
            <a:avLst>
              <a:gd name="adj" fmla="val 6400"/>
            </a:avLst>
          </a:prstGeom>
          <a:solidFill>
            <a:srgbClr val="FDECEE"/>
          </a:solidFill>
          <a:ln w="12700">
            <a:solidFill>
              <a:srgbClr val="FDECE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5212080"/>
            <a:ext cx="10698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If you know Java / Python:  </a:t>
            </a:r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Like Java sealed classes + pattern matching, or a tagged enum — compiler-enforced handling of every variant.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71</a:t>
            </a:fld>
            <a:endParaRPr 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DISCRIMINATED UNIONS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tagged union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74552" cy="4572000"/>
          </a:xfrm>
          <a:prstGeom prst="roundRect">
            <a:avLst>
              <a:gd name="adj" fmla="val 16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37360"/>
            <a:ext cx="1078992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 Shape =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kind: 'circle'; radius: number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{ kind: 'square'; side: number };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area(s: Shape): number {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(s.kind) {                 // the 'kind' label narrows it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'circle': return Math.PI * s.radius ** 2;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'square': return s.side ** 2;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72</a:t>
            </a:fld>
            <a:endParaRPr 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E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D32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DISCRIMINATED UNIONS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E7D32"/>
                </a:solidFill>
              </a:rPr>
              <a:t>Practice: Model and handle variants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Define a type Payment that is  { kind: 'cash'; amount } | { kind: 'card'; last4 }.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describe(p: Payment) with a switch on p.kind.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Return a friendly sentence for each kind; call it with one of each.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2E7D32"/>
                </a:solidFill>
              </a:rPr>
              <a:t>~7 min · try it yourself, then we compare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73</a:t>
            </a:fld>
            <a:endParaRPr lang="en-US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320040"/>
            <a:ext cx="1691640" cy="347472"/>
          </a:xfrm>
          <a:prstGeom prst="roundRect">
            <a:avLst>
              <a:gd name="adj" fmla="val 15789"/>
            </a:avLst>
          </a:prstGeom>
          <a:solidFill>
            <a:srgbClr val="ECEFF1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0" y="320040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46E7A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SELF-STUDY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DISCRIMINATED UNIONS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6A3FB5"/>
                </a:solidFill>
              </a:rPr>
              <a:t>Go deeper: narrowing &amp; exhaustiveness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630936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Narrowing: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typeof, instanceof, in, and the discriminant field all tell TS which type you have.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The default: never: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assign the value to never in default — if a new case is added, TS errors until you handle it.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Compile-time safety: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you can't forget a variant — the compiler forces exhaustive handling.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Why Module 1 uses it: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state machines, API responses, and UI actions are all modelled this way.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b="1" dirty="0">
                <a:solidFill>
                  <a:srgbClr val="6A3FB5"/>
                </a:solidFill>
              </a:rPr>
              <a:t>Prefer over enums+ifs: </a:t>
            </a:r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1A1A2E"/>
                </a:solidFill>
              </a:rPr>
              <a:t>unions give tighter inference and no invalid states.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663440" cy="4480560"/>
          </a:xfrm>
          <a:prstGeom prst="roundRect">
            <a:avLst>
              <a:gd name="adj" fmla="val 16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69480" y="1810512"/>
            <a:ext cx="43434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area(s: Shape)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 (s.kind) {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'circle':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Math.PI*s.radius**2;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'square':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s.side**2;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const _x: never = s;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_x; // exhaustive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74</a:t>
            </a:fld>
            <a:endParaRPr 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8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PART 3 · CHALLENGE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E2D3D"/>
                </a:solidFill>
              </a:rPr>
              <a:t>Challenge: Put Part 3 together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60704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an interface Product (id, name, price, optional discount).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Write a generic function pick&lt;T&gt;(items: T[], index: number): T | undefined.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Define a discriminated union Notification (email vs sms) with a switch handler.</a:t>
            </a:r>
            <a:endParaRPr lang="en-US" sz="1900" dirty="0"/>
          </a:p>
          <a:p>
            <a:pPr marL="342900" indent="-342900">
              <a:spcAft>
                <a:spcPts val="1200"/>
              </a:spcAft>
              <a:buSzPct val="100000"/>
              <a:buFont typeface="+mj-lt"/>
              <a:buAutoNum type="arabicPeriod" startAt="1"/>
            </a:pPr>
            <a:r>
              <a:rPr lang="en-US" sz="1900" dirty="0">
                <a:solidFill>
                  <a:srgbClr val="1A1A2E"/>
                </a:solidFill>
              </a:rPr>
              <a:t>Combine them: build a small array, pick one, and print a typed summary.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31520" y="56692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E2D3D"/>
                </a:solidFill>
              </a:rPr>
              <a:t>~12 min · combine what you just learned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75</a:t>
            </a:fld>
            <a:endParaRPr 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Your path to Module 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Today you learned the JS/TS patterns Module 1 builds on: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Modern JS syntax, async/await, npm tooling, and TypeScript typing patterns.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Module 1 integration checkpoint:</a:t>
            </a:r>
            <a:endParaRPr lang="en-US" sz="19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FastAPI backend + Postgres database + Next.js frontend, all in Docker.</a:t>
            </a:r>
            <a:endParaRPr lang="en-US" sz="1900" dirty="0"/>
          </a:p>
          <a:p>
            <a:pPr lvl="1" marL="6858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A1A2E"/>
                </a:solidFill>
              </a:rPr>
              <a:t>You will read TypeScript in the Next.js app, call async APIs, and model data with interfaces, generics, and discriminated unions.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i="1" dirty="0">
                <a:solidFill>
                  <a:srgbClr val="1A1A2E"/>
                </a:solidFill>
              </a:rPr>
              <a:t>Review practice solutions and challenges before Module 1.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const/let (block scope), arrow functions, destructuring, spread/rest, ES modules.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Promises and async/await on a single-threaded event loop; Promise.all for parallel work.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npm, package.json, and npm run scripts for the Node toolchain.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1A1A2E"/>
                </a:solidFill>
              </a:rPr>
              <a:t>TypeScript: types, interfaces, generics, discriminated unions.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b="1" dirty="0">
                <a:solidFill>
                  <a:srgbClr val="1A1A2E"/>
                </a:solidFill>
              </a:rPr>
              <a:t>You now have the JS + TS floor for Module 1.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Keep learning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MDN JavaScript Guide — developer.mozilla.org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TypeScript Handbook — typescriptlang.org/docs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TypeScript Playground (try TS in the browser) — typescriptlang.org/play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</a:rPr>
              <a:t>Node.js docs — nodejs.org/en/docs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37490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Thank you — see you in Module 1!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5029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E2D3D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upGrad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869680" y="6446520"/>
            <a:ext cx="548640" cy="4114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B"/>
                </a:solidFill>
                <a:latin typeface="Jost"/>
                <a:ea typeface="Jost"/>
                <a:cs typeface="Jost"/>
              </a:defRPr>
            </a:lvl1pPr>
          </a:lstStyle>
          <a:p>
            <a:pPr algn="r"/>
            <a:fld id="{F7021451-1387-4CA6-816F-3879F97B5CBC}" type="slidenum">
              <a:rPr b="0" lang="en-US"/>
              <a:t>79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upGrad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F2 - JavaScript &amp; TypeScript Essentials</dc:title>
  <dc:subject>PptxGenJS Presentation</dc:subject>
  <dc:creator>upGrad</dc:creator>
  <cp:lastModifiedBy>upGrad</cp:lastModifiedBy>
  <cp:revision>1</cp:revision>
  <dcterms:created xsi:type="dcterms:W3CDTF">2026-07-09T13:16:32Z</dcterms:created>
  <dcterms:modified xsi:type="dcterms:W3CDTF">2026-07-09T13:16:32Z</dcterms:modified>
</cp:coreProperties>
</file>