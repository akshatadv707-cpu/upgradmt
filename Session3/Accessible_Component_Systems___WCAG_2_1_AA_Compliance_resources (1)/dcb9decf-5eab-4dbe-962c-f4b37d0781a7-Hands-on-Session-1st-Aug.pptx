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d+yDA1IAJa+/JrSB+GjVRKs1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Divider. The blue ring is the motif for this section — it is literally what students will be looking for in the manual pass.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expectations: the point is not to finish fast, it is to notice what axe misses in Step 3.</a:t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 is the one to slow down on: shadcn/ui writes real source files into src/components/ui/. Have them open dialog.tsx and see Radix imported at the top — that is Chapter 1 made concrete.</a:t>
            </a:r>
            <a:endParaRPr/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 student's agent produces something genuinely clean, have them paste the lab baseline instead — otherwise Step 3 has nothing to triage.</a:t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realistic failure mode. Not that the agent ignores shadcn/ui — that it uses the easy part and improvises the hard part.</a:t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147ea59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6147ea59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realistic failure mode. Not that the agent ignores shadcn/ui — that it uses the easy part and improvises the hard part.</a:t>
            </a:r>
            <a:endParaRPr/>
          </a:p>
        </p:txBody>
      </p:sp>
      <p:sp>
        <p:nvSpPr>
          <p:cNvPr id="99" name="Google Shape;99;g3f6147ea59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790db39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9790db39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at the two screenshots and ask which one is broken. Nobody can tell. The only pixel that differs is the focus ring — and that only appears once you press Tab. This is the entire argument for running the audit.</a:t>
            </a:r>
            <a:endParaRPr/>
          </a:p>
        </p:txBody>
      </p:sp>
      <p:sp>
        <p:nvSpPr>
          <p:cNvPr id="109" name="Google Shape;109;g3f9790db39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Have them deliberately break something and confirm the suite goes red before they trust the green.</a:t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here. Ask the room what they think is still wrong before advancing to the triage slide.</a:t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the whole lab exists for. 8 of 10 findings are invisible to the tool — roughly the 57/43 split from Chapter 3, measured on their own screen.</a:t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Then open src/components/ui/dialog.tsx and show them: every one of those fixes traces to Radix, imported at the top of a file they own and their agent can edit. Chapter 1 closes here.</a:t>
            </a:r>
            <a:endParaRPr/>
          </a:p>
        </p:txBody>
      </p:sp>
      <p:sp>
        <p:nvSpPr>
          <p:cNvPr id="202" name="Google Shape;2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the manual pass live on the projector. The moment Tab escapes the broken modal is the one they remember.</a:t>
            </a:r>
            <a:endParaRPr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at the two screenshots and ask which one is broken. Nobody can tell. The only pixel that differs is the focus ring — and that only appears once you press Tab. This is the entire argument for running the audit.</a:t>
            </a:r>
            <a:endParaRPr/>
          </a:p>
        </p:txBody>
      </p:sp>
      <p:sp>
        <p:nvSpPr>
          <p:cNvPr id="245" name="Google Shape;2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back to Chapter 3: automate the floor so human review time goes to the ceiling.</a:t>
            </a:r>
            <a:endParaRPr/>
          </a:p>
        </p:txBody>
      </p:sp>
      <p:sp>
        <p:nvSpPr>
          <p:cNvPr id="289" name="Google Shape;28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the 'write down your expected count first' instruction — the gap between the guess and the result is the whole point of both tasks.</a:t>
            </a:r>
            <a:endParaRPr/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prompt is deliberately thin — no accessibility requirements at all. That is what produces the zero-violation trap on the next slide.</a:t>
            </a:r>
            <a:endParaRPr/>
          </a:p>
        </p:txBody>
      </p:sp>
      <p:sp>
        <p:nvSpPr>
          <p:cNvPr id="346" name="Google Shape;3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lesson to say out loud: axe only started helping once they were already most of the way there. A silent report is not a clean component.</a:t>
            </a:r>
            <a:endParaRPr/>
          </a:p>
        </p:txBody>
      </p:sp>
      <p:sp>
        <p:nvSpPr>
          <p:cNvPr id="366" name="Google Shape;3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'close your eyes' instruction is doing real work here — the dynamic-announcement failure is impossible to spot by reading the markup casually.</a:t>
            </a:r>
            <a:endParaRPr/>
          </a:p>
        </p:txBody>
      </p:sp>
      <p:sp>
        <p:nvSpPr>
          <p:cNvPr id="386" name="Google Shape;38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Across the lab and both tasks the pattern holds: axe finds the missing name, never the missing behaviour. Three components, one conclusion.</a:t>
            </a:r>
            <a:endParaRPr/>
          </a:p>
        </p:txBody>
      </p:sp>
      <p:sp>
        <p:nvSpPr>
          <p:cNvPr id="406" name="Google Shape;4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the lab here, then hand back to the session wrap-up.</a:t>
            </a:r>
            <a:endParaRPr/>
          </a:p>
        </p:txBody>
      </p:sp>
      <p:sp>
        <p:nvSpPr>
          <p:cNvPr id="426" name="Google Shape;42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66928" y="228600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Hands-On: An AI-Generated Modal,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Audited and Fixed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59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8595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HANDS-ON 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1" sz="3400">
              <a:solidFill>
                <a:srgbClr val="1F23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66925" y="1536204"/>
            <a:ext cx="5349300" cy="33495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841248" y="169164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 will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41246" y="2366861"/>
            <a:ext cx="4800600" cy="22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51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Generate a modal with an AI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Run axe-core on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Triage and fix the violations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Re-verify it's clean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309350" y="1536204"/>
            <a:ext cx="5349300" cy="3349500"/>
          </a:xfrm>
          <a:prstGeom prst="roundRect">
            <a:avLst>
              <a:gd fmla="val 3200" name="adj"/>
            </a:avLst>
          </a:prstGeom>
          <a:solidFill>
            <a:srgbClr val="ECF7F0"/>
          </a:solidFill>
          <a:ln cap="flat" cmpd="sng" w="12700">
            <a:solidFill>
              <a:srgbClr val="C7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583680" y="169164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583671" y="2366880"/>
            <a:ext cx="4800600" cy="22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51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Zero critical / serious violations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Fully keyboard-operable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Passes a manual tab-through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SETUP · BEFORE YOU START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What to Install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66928" y="1417320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Prerequisites: Node.js 20+, npm, any AI coding agent (eg Claude Code), Chrome or Edge.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66928" y="1847088"/>
            <a:ext cx="384048" cy="384048"/>
          </a:xfrm>
          <a:prstGeom prst="roundRect">
            <a:avLst>
              <a:gd fmla="val 52381" name="adj"/>
            </a:avLst>
          </a:prstGeom>
          <a:solidFill>
            <a:srgbClr val="EFF4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66928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097280" y="1883664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Scaffold the project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66928" y="2359152"/>
            <a:ext cx="5349240" cy="969264"/>
          </a:xfrm>
          <a:prstGeom prst="roundRect">
            <a:avLst>
              <a:gd fmla="val 5660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84784" y="2496319"/>
            <a:ext cx="49470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npx create-next-app@latest a11y-lab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--typescript --tailwind --eslint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--app --src-dir --import-alias "@/*"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309360" y="1847088"/>
            <a:ext cx="384048" cy="384048"/>
          </a:xfrm>
          <a:prstGeom prst="roundRect">
            <a:avLst>
              <a:gd fmla="val 52381" name="adj"/>
            </a:avLst>
          </a:prstGeom>
          <a:solidFill>
            <a:srgbClr val="EFF4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630936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839712" y="1883664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Add shadcn/ui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309360" y="2359152"/>
            <a:ext cx="5349240" cy="969264"/>
          </a:xfrm>
          <a:prstGeom prst="roundRect">
            <a:avLst>
              <a:gd fmla="val 5660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528816" y="2505456"/>
            <a:ext cx="49469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npx shadcn@latest init -d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npx shadcn@latest add button dialog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66928" y="3657600"/>
            <a:ext cx="384048" cy="384048"/>
          </a:xfrm>
          <a:prstGeom prst="roundRect">
            <a:avLst>
              <a:gd fmla="val 52381" name="adj"/>
            </a:avLst>
          </a:prstGeom>
          <a:solidFill>
            <a:srgbClr val="EFF4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66928" y="3657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097280" y="3694176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Install the test harness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66928" y="4169664"/>
            <a:ext cx="5349240" cy="969264"/>
          </a:xfrm>
          <a:prstGeom prst="roundRect">
            <a:avLst>
              <a:gd fmla="val 5660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786384" y="4315968"/>
            <a:ext cx="49469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npm i -D jest jest-environment-jsdom ts-node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@types/jest @testing-library/react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@testing-library/dom @testing-library/jest-dom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jest-axe @types/jest-axe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309360" y="3657600"/>
            <a:ext cx="384048" cy="384048"/>
          </a:xfrm>
          <a:prstGeom prst="roundRect">
            <a:avLst>
              <a:gd fmla="val 52381" name="adj"/>
            </a:avLst>
          </a:prstGeom>
          <a:solidFill>
            <a:srgbClr val="EFF4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309360" y="3657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839712" y="3694176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Configure Jest — both files in the project root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309360" y="4169664"/>
            <a:ext cx="5349240" cy="969264"/>
          </a:xfrm>
          <a:prstGeom prst="roundRect">
            <a:avLst>
              <a:gd fmla="val 5660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528816" y="4315968"/>
            <a:ext cx="49469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jest.config.ts    &lt;- beside package.json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jest.setup.ts     &lt;- beside package.json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85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package.json      -&gt; add  "test": "jest"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66928" y="5394960"/>
            <a:ext cx="11057839" cy="786384"/>
          </a:xfrm>
          <a:prstGeom prst="roundRect">
            <a:avLst>
              <a:gd fmla="val 9302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77824" y="5504688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Before Step 1, open src/components/ui/dialog.tsx and skim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77824" y="5779008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Eighty lines of your own code wrapping Radix primitives — nothing hidden in node_modules. That is Chapter 1, sitting in your repo.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1 OF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Generate the Component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66928" y="1417320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Accessibility is stated in the prompt — that alone puts you ahead of most real-world usage.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66928" y="1920240"/>
            <a:ext cx="6858000" cy="3246120"/>
          </a:xfrm>
          <a:prstGeom prst="roundRect">
            <a:avLst>
              <a:gd fmla="val 1690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86384" y="2066544"/>
            <a:ext cx="6492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86384" y="2359152"/>
            <a:ext cx="6455664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Build a DeleteConfirmModal for a Next.js + Tailwind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shadcn/ui app.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- Triggered by a "Delete" button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- Cancel / Delete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- Fully keyboard operable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- Traps focus while open, restores focus on close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- Follows the WAI-ARIA Dialog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Props: open, onCancel, onConfirm. Client component.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Put it in src/components/delete-confirm-modal.tsx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754112" y="1920240"/>
            <a:ext cx="3904488" cy="3246120"/>
          </a:xfrm>
          <a:prstGeom prst="roundRect">
            <a:avLst>
              <a:gd fmla="val 2254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010144" y="2139696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You will still find gaps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010144" y="2560320"/>
            <a:ext cx="340156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Stating a11y in the prompt improves the draft — it does not guarantee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47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Agents reach for the primitive they can drop in with one 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47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…and improvise the container that would have taken three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1 · WHAT CAME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It Uses shadcn/ui. It Also Hand-Rolls the Dialog.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66925" y="1572775"/>
            <a:ext cx="7223700" cy="4782300"/>
          </a:xfrm>
          <a:prstGeom prst="roundRect">
            <a:avLst>
              <a:gd fmla="val 1319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86384" y="1719072"/>
            <a:ext cx="6858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src/components/delete-confirm-modal.tsx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86384" y="2011680"/>
            <a:ext cx="6821424" cy="359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export function DeleteConfirmModal({ open, onCancel, onConfirm })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if (!open) return null;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&lt;div className="fixed inset-0 z-50 ... bg-black/50"&gt;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&lt;div role="dialog" className="...bg-white p-6"&gt;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&lt;div className="text-lg font-semibold"&gt;Delete this?&lt;/div&gt;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&lt;Button variant="ghost" size="icon" onClick={onCancel}&gt;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&lt;X className="h-4 w-4" /&gt;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&lt;/Button&gt;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&lt;div onClick={onCancel} className="cursor-pointer"&gt;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Cancel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9A9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9A9A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&lt;/div&gt;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&lt;Button variant="destructive" onClick={onConfirm}&gt;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&lt;/Button&gt;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&lt;/div&gt;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&lt;/div&gt;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101584" y="1572768"/>
            <a:ext cx="3557016" cy="1920240"/>
          </a:xfrm>
          <a:prstGeom prst="roundRect">
            <a:avLst>
              <a:gd fmla="val 3810" name="adj"/>
            </a:avLst>
          </a:prstGeom>
          <a:solidFill>
            <a:srgbClr val="ECF7F0"/>
          </a:solidFill>
          <a:ln cap="flat" cmpd="sng" w="12700">
            <a:solidFill>
              <a:srgbClr val="C7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339328" y="17556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Imported from shadcn/ui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339328" y="210312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&lt;Button&gt; — twice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Real &lt;button&gt;, focus ring, keyboard behaviour, all free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101575" y="3657600"/>
            <a:ext cx="3557100" cy="2697600"/>
          </a:xfrm>
          <a:prstGeom prst="roundRect">
            <a:avLst>
              <a:gd fmla="val 3524" name="adj"/>
            </a:avLst>
          </a:prstGeom>
          <a:solidFill>
            <a:srgbClr val="FDECEC"/>
          </a:solidFill>
          <a:ln cap="flat" cmpd="sng" w="12700">
            <a:solidFill>
              <a:srgbClr val="F3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339328" y="38404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Hand-rolled anyway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339325" y="4187949"/>
            <a:ext cx="31089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The whole dialog shell, as raw &lt;div&gt;s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F1D1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The title, as a &lt;div&gt;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F1D1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Cancel, as a &lt;div onClick&gt;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F1D1D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…while dialog.tsx sat unused in the repo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147ea59c_0_0"/>
          <p:cNvSpPr/>
          <p:nvPr/>
        </p:nvSpPr>
        <p:spPr>
          <a:xfrm>
            <a:off x="566928" y="38404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1 · WHAT CAME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6147ea59c_0_0"/>
          <p:cNvSpPr/>
          <p:nvPr/>
        </p:nvSpPr>
        <p:spPr>
          <a:xfrm>
            <a:off x="566928" y="713232"/>
            <a:ext cx="1105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Need to Mount the modal also (/app/page.tsx)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6147ea59c_0_0"/>
          <p:cNvSpPr/>
          <p:nvPr/>
        </p:nvSpPr>
        <p:spPr>
          <a:xfrm>
            <a:off x="566925" y="1572775"/>
            <a:ext cx="7223700" cy="4782300"/>
          </a:xfrm>
          <a:prstGeom prst="roundRect">
            <a:avLst>
              <a:gd fmla="val 1319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6147ea59c_0_0"/>
          <p:cNvSpPr/>
          <p:nvPr/>
        </p:nvSpPr>
        <p:spPr>
          <a:xfrm>
            <a:off x="786375" y="1648424"/>
            <a:ext cx="6821400" cy="3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"use client";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useState } from "react";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import { Button } from "@/components/ui/button";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import { DeleteConfirmModal } from "@/components/delete-confirm-modal";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export default function Home() {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const [open, setOpen] = useState(false);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&lt;main className="flex min-h-screen flex-col items-center justify-center gap-4"&gt;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&lt;h1 className="text-2xl font-bold"&gt;Project 42&lt;/h1&gt;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&lt;p&gt;Some page content behind the modal.&lt;/p&gt;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variant="destructive" onClick={() =&gt; setOpen(true)}&gt;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Delete project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&lt;/Button&gt;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&lt;DeleteConfirmModal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open={open}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onCancel={() =&gt; setOpen(false)}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onConfirm={() =&gt; setOpen(false)}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/&gt;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&lt;/main&gt;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t/>
            </a:r>
            <a:endParaRPr sz="1000">
              <a:solidFill>
                <a:srgbClr val="E6E9E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" name="Google Shape;105;g3f6147ea59c_0_0"/>
          <p:cNvSpPr/>
          <p:nvPr/>
        </p:nvSpPr>
        <p:spPr>
          <a:xfrm>
            <a:off x="566928" y="63550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790db39d_0_0"/>
          <p:cNvSpPr/>
          <p:nvPr/>
        </p:nvSpPr>
        <p:spPr>
          <a:xfrm>
            <a:off x="566928" y="38404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WHY YOU CANNOT CODE-REVIEW THIS FROM A SCREENSHOT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9790db39d_0_0"/>
          <p:cNvSpPr/>
          <p:nvPr/>
        </p:nvSpPr>
        <p:spPr>
          <a:xfrm>
            <a:off x="566928" y="713232"/>
            <a:ext cx="1105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Looks 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9790db39d_0_0"/>
          <p:cNvSpPr/>
          <p:nvPr/>
        </p:nvSpPr>
        <p:spPr>
          <a:xfrm>
            <a:off x="566928" y="1481328"/>
            <a:ext cx="5349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  —  hand-rolled &lt;div&gt;s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9790db39d_0_0"/>
          <p:cNvSpPr/>
          <p:nvPr/>
        </p:nvSpPr>
        <p:spPr>
          <a:xfrm>
            <a:off x="566928" y="1737360"/>
            <a:ext cx="5349300" cy="320040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D6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9790db39d_0_0"/>
          <p:cNvSpPr/>
          <p:nvPr/>
        </p:nvSpPr>
        <p:spPr>
          <a:xfrm>
            <a:off x="566928" y="1737360"/>
            <a:ext cx="5349300" cy="274200"/>
          </a:xfrm>
          <a:prstGeom prst="rect">
            <a:avLst/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9790db39d_0_0"/>
          <p:cNvSpPr/>
          <p:nvPr/>
        </p:nvSpPr>
        <p:spPr>
          <a:xfrm>
            <a:off x="694944" y="1837944"/>
            <a:ext cx="82200" cy="82200"/>
          </a:xfrm>
          <a:prstGeom prst="ellipse">
            <a:avLst/>
          </a:prstGeom>
          <a:solidFill>
            <a:srgbClr val="E06C60"/>
          </a:solidFill>
          <a:ln cap="flat" cmpd="sng" w="12700">
            <a:solidFill>
              <a:srgbClr val="E06C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9790db39d_0_0"/>
          <p:cNvSpPr/>
          <p:nvPr/>
        </p:nvSpPr>
        <p:spPr>
          <a:xfrm>
            <a:off x="841248" y="1837944"/>
            <a:ext cx="82200" cy="82200"/>
          </a:xfrm>
          <a:prstGeom prst="ellipse">
            <a:avLst/>
          </a:prstGeom>
          <a:solidFill>
            <a:srgbClr val="E5B95C"/>
          </a:solidFill>
          <a:ln cap="flat" cmpd="sng" w="12700">
            <a:solidFill>
              <a:srgbClr val="E5B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f9790db39d_0_0"/>
          <p:cNvSpPr/>
          <p:nvPr/>
        </p:nvSpPr>
        <p:spPr>
          <a:xfrm>
            <a:off x="987552" y="1837944"/>
            <a:ext cx="82200" cy="82200"/>
          </a:xfrm>
          <a:prstGeom prst="ellipse">
            <a:avLst/>
          </a:prstGeom>
          <a:solidFill>
            <a:srgbClr val="8FC26B"/>
          </a:solidFill>
          <a:ln cap="flat" cmpd="sng" w="12700">
            <a:solidFill>
              <a:srgbClr val="8FC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9790db39d_0_0"/>
          <p:cNvSpPr/>
          <p:nvPr/>
        </p:nvSpPr>
        <p:spPr>
          <a:xfrm>
            <a:off x="1170432" y="1773936"/>
            <a:ext cx="461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localhost:3000/projects/42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9790db39d_0_0"/>
          <p:cNvSpPr/>
          <p:nvPr/>
        </p:nvSpPr>
        <p:spPr>
          <a:xfrm>
            <a:off x="566928" y="2011680"/>
            <a:ext cx="5349300" cy="2926200"/>
          </a:xfrm>
          <a:prstGeom prst="rect">
            <a:avLst/>
          </a:prstGeom>
          <a:solidFill>
            <a:srgbClr val="565C66"/>
          </a:solidFill>
          <a:ln cap="flat" cmpd="sng" w="12700">
            <a:solidFill>
              <a:srgbClr val="565C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9790db39d_0_0"/>
          <p:cNvSpPr/>
          <p:nvPr/>
        </p:nvSpPr>
        <p:spPr>
          <a:xfrm>
            <a:off x="1115568" y="2395728"/>
            <a:ext cx="4251900" cy="1902000"/>
          </a:xfrm>
          <a:prstGeom prst="roundRect">
            <a:avLst>
              <a:gd fmla="val 240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9790db39d_0_0"/>
          <p:cNvSpPr/>
          <p:nvPr/>
        </p:nvSpPr>
        <p:spPr>
          <a:xfrm>
            <a:off x="1335024" y="2542032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Delete this project?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9790db39d_0_0"/>
          <p:cNvSpPr/>
          <p:nvPr/>
        </p:nvSpPr>
        <p:spPr>
          <a:xfrm>
            <a:off x="4983480" y="254203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9790db39d_0_0"/>
          <p:cNvSpPr/>
          <p:nvPr/>
        </p:nvSpPr>
        <p:spPr>
          <a:xfrm>
            <a:off x="1335024" y="2834640"/>
            <a:ext cx="379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action cannot be undone.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9790db39d_0_0"/>
          <p:cNvSpPr/>
          <p:nvPr/>
        </p:nvSpPr>
        <p:spPr>
          <a:xfrm>
            <a:off x="3410712" y="3822192"/>
            <a:ext cx="914400" cy="310800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D6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9790db39d_0_0"/>
          <p:cNvSpPr/>
          <p:nvPr/>
        </p:nvSpPr>
        <p:spPr>
          <a:xfrm>
            <a:off x="3410712" y="3822192"/>
            <a:ext cx="91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Cancel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9790db39d_0_0"/>
          <p:cNvSpPr/>
          <p:nvPr/>
        </p:nvSpPr>
        <p:spPr>
          <a:xfrm>
            <a:off x="4398264" y="3822192"/>
            <a:ext cx="841200" cy="310800"/>
          </a:xfrm>
          <a:prstGeom prst="roundRect">
            <a:avLst>
              <a:gd fmla="val 17647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9790db39d_0_0"/>
          <p:cNvSpPr/>
          <p:nvPr/>
        </p:nvSpPr>
        <p:spPr>
          <a:xfrm>
            <a:off x="4398264" y="3822192"/>
            <a:ext cx="841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9790db39d_0_0"/>
          <p:cNvSpPr/>
          <p:nvPr/>
        </p:nvSpPr>
        <p:spPr>
          <a:xfrm>
            <a:off x="566928" y="5102352"/>
            <a:ext cx="5349300" cy="932700"/>
          </a:xfrm>
          <a:prstGeom prst="roundRect">
            <a:avLst>
              <a:gd fmla="val 7843" name="adj"/>
            </a:avLst>
          </a:prstGeom>
          <a:solidFill>
            <a:srgbClr val="FDECEC"/>
          </a:solidFill>
          <a:ln cap="flat" cmpd="sng" w="12700">
            <a:solidFill>
              <a:srgbClr val="F3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9790db39d_0_0"/>
          <p:cNvSpPr/>
          <p:nvPr/>
        </p:nvSpPr>
        <p:spPr>
          <a:xfrm>
            <a:off x="804672" y="5230368"/>
            <a:ext cx="4892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Cancel never receives focus. Tab escapes to the page behind. Escape does nothing. A screen reader announces an unnamed dialog.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2 OF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Run axe-core Immediately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66928" y="1572768"/>
            <a:ext cx="7223760" cy="3200400"/>
          </a:xfrm>
          <a:prstGeom prst="roundRect">
            <a:avLst>
              <a:gd fmla="val 1714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86384" y="1719072"/>
            <a:ext cx="6858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src/components/delete-confirm-modal.test.tsx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86384" y="2011680"/>
            <a:ext cx="6821424" cy="2633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import { render } from "@testing-library/react";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import { axe } from "jest-axe";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it("has no accessibility violations", async () =&gt;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  // Render already open — that's the state we care about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const { baseElement } = render(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&lt;DeleteConfirmModal open onCancel={noop} onConfirm={noop} /&gt;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expect(await axe(baseElement)).toHaveNoViolations();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101584" y="1572768"/>
            <a:ext cx="3557016" cy="3200400"/>
          </a:xfrm>
          <a:prstGeom prst="roundRect">
            <a:avLst>
              <a:gd fmla="val 2286" name="adj"/>
            </a:avLst>
          </a:prstGeom>
          <a:solidFill>
            <a:srgbClr val="FFF7E6"/>
          </a:solidFill>
          <a:ln cap="flat" cmpd="sng" w="12700">
            <a:solidFill>
              <a:srgbClr val="F0D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339328" y="1773936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baseElement, not container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339328" y="2395728"/>
            <a:ext cx="31089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container is only the div RTL rendered into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In Step 4 the Dialog portals to document.body — outside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A container scan then finds an empty node and passes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baseElement is document.body, so it works for both versions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66928" y="4983480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green test you have never watched fail is not evidence of anything.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2 · THE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Two Violations Come Back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66928" y="1627632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DECEC"/>
          </a:solidFill>
          <a:ln cap="flat" cmpd="sng" w="12700">
            <a:solidFill>
              <a:srgbClr val="F3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41248" y="18105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41248" y="2121408"/>
            <a:ext cx="4754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button-name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41248" y="2615184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close button holds only an icon, so it has no accessible name.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41248" y="33101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4.1.2 Name, Role, Value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309360" y="1627632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FF7E6"/>
          </a:solidFill>
          <a:ln cap="flat" cmpd="sng" w="12700">
            <a:solidFill>
              <a:srgbClr val="F0D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583680" y="18105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SERIOUS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583680" y="2121408"/>
            <a:ext cx="4754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aria-dialog-name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583680" y="2615184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role="dialog" with no accessible name for a screen reader to announce.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583680" y="33101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4.1.2 Name, Role, Value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66928" y="4059936"/>
            <a:ext cx="11057839" cy="1572768"/>
          </a:xfrm>
          <a:prstGeom prst="roundRect">
            <a:avLst>
              <a:gd fmla="val 4651" name="adj"/>
            </a:avLst>
          </a:prstGeom>
          <a:solidFill>
            <a:srgbClr val="14161A"/>
          </a:solidFill>
          <a:ln cap="flat" cmpd="sng" w="12700">
            <a:solidFill>
              <a:srgbClr val="141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78408" y="4334256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component has considerably more than two problems.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978408" y="484632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B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8B0BE"/>
                </a:solidFill>
                <a:latin typeface="Calibri"/>
                <a:ea typeface="Calibri"/>
                <a:cs typeface="Calibri"/>
                <a:sym typeface="Calibri"/>
              </a:rPr>
              <a:t>Everything axe flagged is in the markup the agent hand-wrote. Everything it could not flag is there too — you have not looked yet.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3 OF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Triage: What the Scan Could Not See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66928" y="1554480"/>
            <a:ext cx="3108960" cy="3977640"/>
          </a:xfrm>
          <a:prstGeom prst="roundRect">
            <a:avLst>
              <a:gd fmla="val 2353" name="adj"/>
            </a:avLst>
          </a:prstGeom>
          <a:solidFill>
            <a:srgbClr val="F7F8FA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04672" y="173736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axe found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804672" y="21031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04672" y="320040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Close button has no accessible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Dialog has no accessible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023360" y="1554480"/>
            <a:ext cx="7635240" cy="3977640"/>
          </a:xfrm>
          <a:prstGeom prst="roundRect">
            <a:avLst>
              <a:gd fmla="val 1839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279392" y="173736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You have to find these yourself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876288" y="162763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279392" y="2487168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Cancel is a &lt;div onClick&gt; — never focusable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9253728" y="248716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2.1.1 Keyboard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279392" y="285750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Focus is not moved into the dialog on open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9253728" y="28575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2.4.3 Focus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279392" y="322783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Tab escapes to the page behind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253728" y="322783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2.4.3 Focus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279392" y="359816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Escape does not close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9253728" y="359816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2.1.2 No Keyboard Trap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279392" y="396849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Focus is not restored to the trigger on close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9253728" y="396849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2.4.3 Focus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279392" y="4338828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Background is not marked inert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9253728" y="433882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4.1.2 Name, Role,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279392" y="470916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Title is a &lt;div&gt;, not a heading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9253728" y="47091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1.3.1 Info &amp; Relationships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279392" y="507949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Cancel text ≈ 2.5:1 against white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9253728" y="507949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1.4.3 Contrast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most common AI accessibility defect there is — &lt;div onClick&gt; instead of &lt;button&gt; — produces no axe violation at all. axe reads the DOM; it cannot see a React event handler.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4 OF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Fix With the Dialog That Was Already in Your Repo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66928" y="1572768"/>
            <a:ext cx="7223760" cy="4114800"/>
          </a:xfrm>
          <a:prstGeom prst="roundRect">
            <a:avLst>
              <a:gd fmla="val 1333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786384" y="1719072"/>
            <a:ext cx="6858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src/components/delete-confirm-modal.tsx  (rewritten)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86384" y="2011680"/>
            <a:ext cx="6821424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// Owns open state, Escape key, outside-click to close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&lt;Dialog open={open} onOpenChange={(n) =&gt; { if (!n) onCancel(); }}&gt;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  // Portals, inerts the page, traps focus, restores it on close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&lt;DialogContent className="sm:max-w-md"&gt;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&lt;DialogHeader&gt;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&lt;DialogTitle&gt;Delete this project?&lt;/DialogTitle&gt;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&lt;DialogDescription&gt;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 action cannot be undone.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&lt;/DialogDescription&gt;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&lt;/DialogHeader&gt;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&lt;DialogFooter&gt;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variant="outline" onClick={onCancel}&gt;Cancel&lt;/Button&gt;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&lt;Button variant="destructive" onClick={onConfirm} autoFocus&gt;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 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&lt;/Button&gt;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&lt;/DialogFooter&gt;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&lt;/DialogContent&gt;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&lt;/Dialog&gt;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101584" y="1572768"/>
            <a:ext cx="3557016" cy="4114800"/>
          </a:xfrm>
          <a:prstGeom prst="roundRect">
            <a:avLst>
              <a:gd fmla="val 2057" name="adj"/>
            </a:avLst>
          </a:prstGeom>
          <a:solidFill>
            <a:srgbClr val="ECF7F0"/>
          </a:solidFill>
          <a:ln cap="flat" cmpd="sng" w="12700">
            <a:solidFill>
              <a:srgbClr val="C7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8339328" y="1773936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What you did not write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339328" y="2194560"/>
            <a:ext cx="31089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role="dialog", aria-modal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aria-labelledby / describedby and matching 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 useFocusTrap hook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Focus-restore-on-close logic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An Escape key handler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aria-hidden on the rest of the 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 labelled close button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 visible focus 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STEP 5 OF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Re-Test, Then Verify by Hand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66928" y="1572768"/>
            <a:ext cx="6035040" cy="2880360"/>
          </a:xfrm>
          <a:prstGeom prst="roundRect">
            <a:avLst>
              <a:gd fmla="val 1905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786384" y="171907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786384" y="2011680"/>
            <a:ext cx="5632704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$ npm 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PASS  src/components/delete-confirm-modal.test.tsx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✓ has no accessibility violations (142 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# and that is the floor, not the ceiling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912864" y="1572768"/>
            <a:ext cx="4745736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168896" y="175564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60-second manual pass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7168896" y="206654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Hand off the mouse.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7168896" y="239572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Tab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101584" y="23957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focus reaches the trigger, ring visible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168896" y="27157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Enter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101584" y="27157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opens; focus lands inside the dialog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168896" y="303580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Tab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101584" y="303580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Close → Cancel → Delete, trapped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168896" y="335584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Space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101584" y="335584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activates the focused button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168896" y="367588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Escape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8101584" y="367588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closes; focus returns to the trigger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7168896" y="399592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200%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101584" y="39959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zoom in — nothing clipped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66928" y="4645152"/>
            <a:ext cx="11057839" cy="1005840"/>
          </a:xfrm>
          <a:prstGeom prst="roundRect">
            <a:avLst>
              <a:gd fmla="val 7273" name="adj"/>
            </a:avLst>
          </a:prstGeom>
          <a:solidFill>
            <a:srgbClr val="FFF7E6"/>
          </a:solidFill>
          <a:ln cap="flat" cmpd="sng" w="12700">
            <a:solidFill>
              <a:srgbClr val="F0D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77824" y="47731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One thing jsdom cannot 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77824" y="5065776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It has no layout engine, so axe cannot compute contrast there — it reports color-contrast as incomplete rather than guessing. That is the zero-false-positives rule doing its job. Check contrast with the axe DevTools browser extension instead.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WHY YOU CANNOT CODE-REVIEW THIS FROM A SCREENSHOT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Both Versions Look Completely Identical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66928" y="1481328"/>
            <a:ext cx="5349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  —  hand-rolled &lt;div&gt;s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66928" y="1737360"/>
            <a:ext cx="5349240" cy="320040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D6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566928" y="1737360"/>
            <a:ext cx="5349240" cy="274320"/>
          </a:xfrm>
          <a:prstGeom prst="rect">
            <a:avLst/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694944" y="1837944"/>
            <a:ext cx="82296" cy="82296"/>
          </a:xfrm>
          <a:prstGeom prst="ellipse">
            <a:avLst/>
          </a:prstGeom>
          <a:solidFill>
            <a:srgbClr val="E06C60"/>
          </a:solidFill>
          <a:ln cap="flat" cmpd="sng" w="12700">
            <a:solidFill>
              <a:srgbClr val="E06C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841248" y="1837944"/>
            <a:ext cx="82296" cy="82296"/>
          </a:xfrm>
          <a:prstGeom prst="ellipse">
            <a:avLst/>
          </a:prstGeom>
          <a:solidFill>
            <a:srgbClr val="E5B95C"/>
          </a:solidFill>
          <a:ln cap="flat" cmpd="sng" w="12700">
            <a:solidFill>
              <a:srgbClr val="E5B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987552" y="1837944"/>
            <a:ext cx="82296" cy="82296"/>
          </a:xfrm>
          <a:prstGeom prst="ellipse">
            <a:avLst/>
          </a:prstGeom>
          <a:solidFill>
            <a:srgbClr val="8FC26B"/>
          </a:solidFill>
          <a:ln cap="flat" cmpd="sng" w="12700">
            <a:solidFill>
              <a:srgbClr val="8FC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1170432" y="1773936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localhost:3000/projects/42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66928" y="2011680"/>
            <a:ext cx="5349240" cy="2926080"/>
          </a:xfrm>
          <a:prstGeom prst="rect">
            <a:avLst/>
          </a:prstGeom>
          <a:solidFill>
            <a:srgbClr val="565C66"/>
          </a:solidFill>
          <a:ln cap="flat" cmpd="sng" w="12700">
            <a:solidFill>
              <a:srgbClr val="565C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1115568" y="2395728"/>
            <a:ext cx="4251960" cy="1901952"/>
          </a:xfrm>
          <a:prstGeom prst="roundRect">
            <a:avLst>
              <a:gd fmla="val 240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1335024" y="254203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Delete this project?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983480" y="254203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335024" y="283464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action cannot be undone.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3410712" y="3822192"/>
            <a:ext cx="914400" cy="310896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D6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3410712" y="382219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Cancel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4398264" y="3822192"/>
            <a:ext cx="841248" cy="310896"/>
          </a:xfrm>
          <a:prstGeom prst="roundRect">
            <a:avLst>
              <a:gd fmla="val 17647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4398264" y="3822192"/>
            <a:ext cx="841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309360" y="1481328"/>
            <a:ext cx="5349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AFTER  —  shadcn/ui Dialog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309360" y="1737360"/>
            <a:ext cx="5349240" cy="320040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D6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6309360" y="1737360"/>
            <a:ext cx="5349240" cy="274320"/>
          </a:xfrm>
          <a:prstGeom prst="rect">
            <a:avLst/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6437376" y="1837944"/>
            <a:ext cx="82296" cy="82296"/>
          </a:xfrm>
          <a:prstGeom prst="ellipse">
            <a:avLst/>
          </a:prstGeom>
          <a:solidFill>
            <a:srgbClr val="E06C60"/>
          </a:solidFill>
          <a:ln cap="flat" cmpd="sng" w="12700">
            <a:solidFill>
              <a:srgbClr val="E06C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6583680" y="1837944"/>
            <a:ext cx="82296" cy="82296"/>
          </a:xfrm>
          <a:prstGeom prst="ellipse">
            <a:avLst/>
          </a:prstGeom>
          <a:solidFill>
            <a:srgbClr val="E5B95C"/>
          </a:solidFill>
          <a:ln cap="flat" cmpd="sng" w="12700">
            <a:solidFill>
              <a:srgbClr val="E5B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6729984" y="1837944"/>
            <a:ext cx="82296" cy="82296"/>
          </a:xfrm>
          <a:prstGeom prst="ellipse">
            <a:avLst/>
          </a:prstGeom>
          <a:solidFill>
            <a:srgbClr val="8FC26B"/>
          </a:solidFill>
          <a:ln cap="flat" cmpd="sng" w="12700">
            <a:solidFill>
              <a:srgbClr val="8FC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6912864" y="1773936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localhost:3000/projects/42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6309360" y="2011680"/>
            <a:ext cx="5349240" cy="2926080"/>
          </a:xfrm>
          <a:prstGeom prst="rect">
            <a:avLst/>
          </a:prstGeom>
          <a:solidFill>
            <a:srgbClr val="565C66"/>
          </a:solidFill>
          <a:ln cap="flat" cmpd="sng" w="12700">
            <a:solidFill>
              <a:srgbClr val="565C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6858000" y="2395728"/>
            <a:ext cx="4251960" cy="1901952"/>
          </a:xfrm>
          <a:prstGeom prst="roundRect">
            <a:avLst>
              <a:gd fmla="val 240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7077456" y="254203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Delete this project?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0725912" y="254203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7077456" y="283464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action cannot be undone.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9153144" y="3822192"/>
            <a:ext cx="914400" cy="310896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9153144" y="382219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Cancel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10140696" y="3822192"/>
            <a:ext cx="841248" cy="310896"/>
          </a:xfrm>
          <a:prstGeom prst="roundRect">
            <a:avLst>
              <a:gd fmla="val 17647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10140696" y="3822192"/>
            <a:ext cx="841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566928" y="5102352"/>
            <a:ext cx="5349240" cy="932688"/>
          </a:xfrm>
          <a:prstGeom prst="roundRect">
            <a:avLst>
              <a:gd fmla="val 7843" name="adj"/>
            </a:avLst>
          </a:prstGeom>
          <a:solidFill>
            <a:srgbClr val="FDECEC"/>
          </a:solidFill>
          <a:ln cap="flat" cmpd="sng" w="12700">
            <a:solidFill>
              <a:srgbClr val="F3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804672" y="5230368"/>
            <a:ext cx="4892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Cancel never receives focus. Tab escapes to the page behind. Escape does nothing. A screen reader announces an unnamed dialog.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6309360" y="5102352"/>
            <a:ext cx="5349240" cy="932688"/>
          </a:xfrm>
          <a:prstGeom prst="roundRect">
            <a:avLst>
              <a:gd fmla="val 7843" name="adj"/>
            </a:avLst>
          </a:prstGeom>
          <a:solidFill>
            <a:srgbClr val="ECF7F0"/>
          </a:solidFill>
          <a:ln cap="flat" cmpd="sng" w="12700">
            <a:solidFill>
              <a:srgbClr val="C7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6547104" y="5230368"/>
            <a:ext cx="4892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Focusable, trapped, restored on close, announced correctly — and the only visible difference is that blue focus ring on Cancel.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BEFORE YOU MERGE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Production Readiness Checklist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66928" y="1645920"/>
            <a:ext cx="534924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859536" y="1847088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877824" y="236829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1225296" y="234086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axe-core clean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877824" y="288036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225296" y="285292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shadcn/ui or semantic HTML — no &lt;div onClick&gt;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77824" y="3392424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225296" y="336499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Focus trapped, and restored on close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877824" y="3904488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1225296" y="387705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Visible focus indicator on every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877824" y="4416552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1225296" y="43891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Escape closes; Enter and Space activate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309360" y="1645920"/>
            <a:ext cx="534924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6601968" y="1847088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620256" y="236829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967728" y="234086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Accessibility stated in the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620256" y="288036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6967728" y="285292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Generate → Audit → Fix → Re-test followed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620256" y="3392424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967728" y="336499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test has been watched to fail at least once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601968" y="44348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Zero critical/serious violations · fully keyboard-operable · passes a manual tab-through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Clean scan = no mechanical defects. It does not mean "accessible".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TAKE-HOME  ·  TWO CODING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Now Build Two More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66928" y="1417320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a11y-lab project, same four steps.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66928" y="1847088"/>
            <a:ext cx="5349240" cy="2286000"/>
          </a:xfrm>
          <a:prstGeom prst="roundRect">
            <a:avLst>
              <a:gd fmla="val 3200" name="adj"/>
            </a:avLst>
          </a:prstGeom>
          <a:solidFill>
            <a:srgbClr val="F7F8FA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841248" y="2048256"/>
            <a:ext cx="384048" cy="384048"/>
          </a:xfrm>
          <a:prstGeom prst="roundRect">
            <a:avLst>
              <a:gd fmla="val 52381" name="adj"/>
            </a:avLst>
          </a:prstGeom>
          <a:solidFill>
            <a:srgbClr val="EFF4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841248" y="2048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335024" y="208483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Editor Toolbar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41248" y="2578608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Bold / Italic / Link — icon-only toggle buttons for a text editor.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841248" y="3200400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The trap: your first draft will pass axe with zero violations and still be unusable.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309360" y="1847088"/>
            <a:ext cx="5349240" cy="2286000"/>
          </a:xfrm>
          <a:prstGeom prst="roundRect">
            <a:avLst>
              <a:gd fmla="val 3200" name="adj"/>
            </a:avLst>
          </a:prstGeom>
          <a:solidFill>
            <a:srgbClr val="F7F8FA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583680" y="2048256"/>
            <a:ext cx="384048" cy="384048"/>
          </a:xfrm>
          <a:prstGeom prst="roundRect">
            <a:avLst>
              <a:gd fmla="val 52381" name="adj"/>
            </a:avLst>
          </a:prstGeom>
          <a:solidFill>
            <a:srgbClr val="EFF4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583680" y="2048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077456" y="208483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EmailField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583680" y="2578608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An email input with a validation error that appears after submit.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583680" y="3200400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The trap: axe catches one thing here and stays silent about the three that matter.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66928" y="4352544"/>
            <a:ext cx="5349240" cy="1737360"/>
          </a:xfrm>
          <a:prstGeom prst="roundRect">
            <a:avLst>
              <a:gd fmla="val 4211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841248" y="451713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four steps, again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841248" y="4828032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Prompt an agent — write down your expected violation count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Write the jest-axe test and run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Triage: split what axe found from what you found by hand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Fix, then add a test that would have caught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6309360" y="4352544"/>
            <a:ext cx="534924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6583680" y="451713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Hand 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583680" y="4828032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component file and its test 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screenshot of the failing run and the passing run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Three lines: what axe caught, what it missed, how you found the 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TASK 1  ·  THE BRIEF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An Accessible Icon Toolbar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566928" y="1600200"/>
            <a:ext cx="5349240" cy="2103120"/>
          </a:xfrm>
          <a:prstGeom prst="roundRect">
            <a:avLst>
              <a:gd fmla="val 3478" name="adj"/>
            </a:avLst>
          </a:prstGeom>
          <a:solidFill>
            <a:srgbClr val="F7F8FA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841248" y="176479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What to build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841248" y="2084832"/>
            <a:ext cx="48006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EditorToolbar with three icon-only buttons: Bold, Italic, Link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Each one toggles on and off, and the on/off state must be exposed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shadcn/ui Button + lucide icons, in the same a11y-lab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6309360" y="1600200"/>
            <a:ext cx="5349240" cy="2103120"/>
          </a:xfrm>
          <a:prstGeom prst="roundRect">
            <a:avLst>
              <a:gd fmla="val 2609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6528816" y="1746504"/>
            <a:ext cx="4983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this thin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6528816" y="2039112"/>
            <a:ext cx="494690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Build an EditorToolbar for my Next.js + Tailwind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shadcn/ui app.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Bold, Italic and Link buttons. Icons only, no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labels. Each button toggles on and off.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Put it in src/components/editor-toolbar.tsx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66928" y="3840480"/>
            <a:ext cx="5349240" cy="1920240"/>
          </a:xfrm>
          <a:prstGeom prst="roundRect">
            <a:avLst>
              <a:gd fmla="val 3810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41248" y="400507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Before you run anything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841248" y="4315968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Read the generated markup and predict the violation count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Then write the jest-axe test and find 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Keep both numbers — you will need them for the write-up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6309360" y="3840480"/>
            <a:ext cx="5349240" cy="1920240"/>
          </a:xfrm>
          <a:prstGeom prst="roundRect">
            <a:avLst>
              <a:gd fmla="val 3810" name="adj"/>
            </a:avLst>
          </a:prstGeom>
          <a:solidFill>
            <a:srgbClr val="ECF7F0"/>
          </a:solidFill>
          <a:ln cap="flat" cmpd="sng" w="12700">
            <a:solidFill>
              <a:srgbClr val="C7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6583680" y="400507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Done when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6583680" y="4315968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axe reports zero violations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Tab reaches all three buttons; Enter and Space toggle them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Each button announces a name and a pressed state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 test asserts both, by role and name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TASK 1  ·  SOLUTION AND HINTS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Toolbar That Passes and Still Doesn't Work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66928" y="1600200"/>
            <a:ext cx="3703320" cy="1965960"/>
          </a:xfrm>
          <a:prstGeom prst="roundRect">
            <a:avLst>
              <a:gd fmla="val 3721" name="adj"/>
            </a:avLst>
          </a:prstGeom>
          <a:solidFill>
            <a:srgbClr val="FDECEC"/>
          </a:solidFill>
          <a:ln cap="flat" cmpd="sng" w="12700">
            <a:solidFill>
              <a:srgbClr val="F3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822960" y="175564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First draft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822960" y="1975104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700784" y="212140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violations — and not one of the three buttons can be reached by keyboard.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822960" y="30175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Swap in &lt;Button&gt; but forget the label → axe finally fires: button-name, critical.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66928" y="3712464"/>
            <a:ext cx="3703320" cy="2048256"/>
          </a:xfrm>
          <a:prstGeom prst="roundRect">
            <a:avLst>
              <a:gd fmla="val 3571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822960" y="387705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22960" y="418795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No role on a &lt;div&gt; = no rule applies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Name from aria-label, state from aria-pressed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aria-hidden the icon so it can't compete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role="toolbar" needs its own aria-label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4636008" y="1600200"/>
            <a:ext cx="7022592" cy="4160520"/>
          </a:xfrm>
          <a:prstGeom prst="roundRect">
            <a:avLst>
              <a:gd fmla="val 1319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4855464" y="1746504"/>
            <a:ext cx="6656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editor-toolbar.tsx  +  editor-toolbar.test.tsx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855464" y="2039112"/>
            <a:ext cx="6620256" cy="359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&lt;div role="toolbar" aria-label="Text formatting"&gt;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{actions.map(({ id, label, Icon }) =&gt; 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key={id} variant="ghost" size="icon"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aria-label={label}          // the accessible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aria-pressed={active[id]}   // the accessible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  onClick={() =&gt; toggle(id)}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  &lt;Icon aria-hidden="true" className="h-4 w-4" /&gt;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))}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it("each action is a named toggle button", async () =&gt;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render(&lt;EditorToolbar /&gt;);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const bold = screen.getByRole("button", { name: /bold/i 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expect(bold).toHaveAttribute("aria-pressed", "false");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await userEvent.tab();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await userEvent.keyboard("{Enter}");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expect(bold).toHaveAttribute("aria-pressed", "true");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566928" y="588873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That test fails on the first draft for the best possible reason: getByRole finds no buttons at 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TASK 2  ·  THE BRIEF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Form Field That Announces Its Own Error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66928" y="1600200"/>
            <a:ext cx="5349240" cy="2103120"/>
          </a:xfrm>
          <a:prstGeom prst="roundRect">
            <a:avLst>
              <a:gd fmla="val 3478" name="adj"/>
            </a:avLst>
          </a:prstGeom>
          <a:solidFill>
            <a:srgbClr val="F7F8FA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841248" y="176479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What to build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841248" y="2084832"/>
            <a:ext cx="48006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EmailField: one input, one Submit button, one error message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error appears only after Submit, when the value is invalid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Add the pieces first: npx shadcn@latest add input label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6309360" y="1600200"/>
            <a:ext cx="5349240" cy="2103120"/>
          </a:xfrm>
          <a:prstGeom prst="roundRect">
            <a:avLst>
              <a:gd fmla="val 2609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6528816" y="1746504"/>
            <a:ext cx="4983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this thin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528816" y="2039112"/>
            <a:ext cx="494690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Build an EmailField for my Next.js + Tailwind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shadcn/ui app.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An email input and a Submit button. If the email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invalid, show an error under the field.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Put it in src/components/email-field.tsx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66928" y="3840480"/>
            <a:ext cx="5349240" cy="1920240"/>
          </a:xfrm>
          <a:prstGeom prst="roundRect">
            <a:avLst>
              <a:gd fmla="val 3810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841248" y="400507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Test it like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841248" y="4315968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Run axe on both states — valid and errored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Then close your eyes and imagine only hearing the page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What would you be told, and when?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309360" y="3840480"/>
            <a:ext cx="5349240" cy="1920240"/>
          </a:xfrm>
          <a:prstGeom prst="roundRect">
            <a:avLst>
              <a:gd fmla="val 3810" name="adj"/>
            </a:avLst>
          </a:prstGeom>
          <a:solidFill>
            <a:srgbClr val="ECF7F0"/>
          </a:solidFill>
          <a:ln cap="flat" cmpd="sng" w="12700">
            <a:solidFill>
              <a:srgbClr val="C7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6583680" y="400507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Done when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583680" y="4315968"/>
            <a:ext cx="4800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axe reports zero violations in both states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The label survives typing — it is not a placeholder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The error is announced the moment it appears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4532D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The error is readable in words, not just 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"/>
          <p:cNvSpPr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TASK 2  ·  SOLUTION AND HINTS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One Violation Found, Three Left for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66928" y="1600200"/>
            <a:ext cx="3703320" cy="1965960"/>
          </a:xfrm>
          <a:prstGeom prst="roundRect">
            <a:avLst>
              <a:gd fmla="val 3721" name="adj"/>
            </a:avLst>
          </a:prstGeom>
          <a:solidFill>
            <a:srgbClr val="FDECEC"/>
          </a:solidFill>
          <a:ln cap="flat" cmpd="sng" w="12700">
            <a:solidFill>
              <a:srgbClr val="F3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822960" y="175564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First draft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822960" y="1975104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1700784" y="212140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violation — label, critical. A placeholder vanishes the moment anyone types.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822960" y="30175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Missed: colour-only error, no aria-invalid, and no announcement at all.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66928" y="3712464"/>
            <a:ext cx="3703320" cy="2048256"/>
          </a:xfrm>
          <a:prstGeom prst="roundRect">
            <a:avLst>
              <a:gd fmla="val 3571" name="adj"/>
            </a:avLst>
          </a:prstGeom>
          <a:solidFill>
            <a:srgbClr val="EFF4FF"/>
          </a:solidFill>
          <a:ln cap="flat" cmpd="sng" w="12700">
            <a:solidFill>
              <a:srgbClr val="C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822960" y="387705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822960" y="418795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aria-describedby links message to field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role="alert" makes it speak on appearance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Colour alone is never enough — 1.4.1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E3A8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red-500 = 3.8:1; use red-700 for 4.5:1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4636008" y="1600200"/>
            <a:ext cx="7022592" cy="4160520"/>
          </a:xfrm>
          <a:prstGeom prst="roundRect">
            <a:avLst>
              <a:gd fmla="val 1319" name="adj"/>
            </a:avLst>
          </a:prstGeom>
          <a:solidFill>
            <a:srgbClr val="1B1F27"/>
          </a:solidFill>
          <a:ln cap="flat" cmpd="sng" w="12700">
            <a:solidFill>
              <a:srgbClr val="1B1F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4855464" y="1746504"/>
            <a:ext cx="6656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Courier New"/>
                <a:ea typeface="Courier New"/>
                <a:cs typeface="Courier New"/>
                <a:sym typeface="Courier New"/>
              </a:rPr>
              <a:t>email-field.tsx  +  email-field.test.tsx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4855464" y="2039112"/>
            <a:ext cx="6620256" cy="359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&lt;Label htmlFor="email"&gt;Email address&lt;/Label&gt;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id="email" type="email"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aria-invalid={!!error}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aria-describedby={error ? "email-error" : undefined}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{error &amp;&amp; 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&lt;p id="email-error" role="alert" className="text-red-700"&gt;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9FE6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FE6B8"/>
                </a:solidFill>
                <a:latin typeface="Courier New"/>
                <a:ea typeface="Courier New"/>
                <a:cs typeface="Courier New"/>
                <a:sym typeface="Courier New"/>
              </a:rPr>
              <a:t>    Enter a valid email address.   // words, not just 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&lt;/p&gt;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)}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it("announces the error and marks the field invalid", () =&gt;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render(&lt;EmailField error="Enter a valid email address." /&gt;);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expect(screen.getByRole("alert")).toHaveTextContent(/valid/i);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expect(screen.getByLabelText(/email address/i))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    .toHaveAttribute("aria-invalid", "true");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9E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9E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566928" y="588873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axe told you the label was missing. It could not tell you the error was silent, or that red was doing all the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A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/>
          <p:nvPr/>
        </p:nvSpPr>
        <p:spPr>
          <a:xfrm>
            <a:off x="566925" y="1600200"/>
            <a:ext cx="73152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lang="en-US" sz="5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566928" y="4709160"/>
            <a:ext cx="2651760" cy="1115568"/>
          </a:xfrm>
          <a:prstGeom prst="roundRect">
            <a:avLst>
              <a:gd fmla="val 6557" name="adj"/>
            </a:avLst>
          </a:prstGeom>
          <a:solidFill>
            <a:srgbClr val="232830"/>
          </a:solidFill>
          <a:ln cap="flat" cmpd="sng" w="12700">
            <a:solidFill>
              <a:srgbClr val="3A4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786384" y="4864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786384" y="5157216"/>
            <a:ext cx="2249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B0BE"/>
                </a:solidFill>
                <a:latin typeface="Calibri"/>
                <a:ea typeface="Calibri"/>
                <a:cs typeface="Calibri"/>
                <a:sym typeface="Calibri"/>
              </a:rPr>
              <a:t>State accessibility in the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3383280" y="4709160"/>
            <a:ext cx="2651760" cy="1115568"/>
          </a:xfrm>
          <a:prstGeom prst="roundRect">
            <a:avLst>
              <a:gd fmla="val 6557" name="adj"/>
            </a:avLst>
          </a:prstGeom>
          <a:solidFill>
            <a:srgbClr val="232830"/>
          </a:solidFill>
          <a:ln cap="flat" cmpd="sng" w="12700">
            <a:solidFill>
              <a:srgbClr val="3A4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3602736" y="4864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3602736" y="5157216"/>
            <a:ext cx="2249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B0BE"/>
                </a:solidFill>
                <a:latin typeface="Calibri"/>
                <a:ea typeface="Calibri"/>
                <a:cs typeface="Calibri"/>
                <a:sym typeface="Calibri"/>
              </a:rPr>
              <a:t>Run axe-core immediately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6199632" y="4709160"/>
            <a:ext cx="2651760" cy="1115568"/>
          </a:xfrm>
          <a:prstGeom prst="roundRect">
            <a:avLst>
              <a:gd fmla="val 6557" name="adj"/>
            </a:avLst>
          </a:prstGeom>
          <a:solidFill>
            <a:srgbClr val="232830"/>
          </a:solidFill>
          <a:ln cap="flat" cmpd="sng" w="12700">
            <a:solidFill>
              <a:srgbClr val="3A4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6419088" y="4864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6419088" y="5157216"/>
            <a:ext cx="2249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B0BE"/>
                </a:solidFill>
                <a:latin typeface="Calibri"/>
                <a:ea typeface="Calibri"/>
                <a:cs typeface="Calibri"/>
                <a:sym typeface="Calibri"/>
              </a:rPr>
              <a:t>Reach for the primitive you 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9015984" y="4709160"/>
            <a:ext cx="2651760" cy="1115568"/>
          </a:xfrm>
          <a:prstGeom prst="roundRect">
            <a:avLst>
              <a:gd fmla="val 6557" name="adj"/>
            </a:avLst>
          </a:prstGeom>
          <a:solidFill>
            <a:srgbClr val="232830"/>
          </a:solidFill>
          <a:ln cap="flat" cmpd="sng" w="12700">
            <a:solidFill>
              <a:srgbClr val="3A4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9235440" y="4864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Re-test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9235440" y="5157216"/>
            <a:ext cx="2249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0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B0BE"/>
                </a:solidFill>
                <a:latin typeface="Calibri"/>
                <a:ea typeface="Calibri"/>
                <a:cs typeface="Calibri"/>
                <a:sym typeface="Calibri"/>
              </a:rPr>
              <a:t>Then use the keyboard yourself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59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8595"/>
                </a:solidFill>
                <a:latin typeface="Calibri"/>
                <a:ea typeface="Calibri"/>
                <a:cs typeface="Calibri"/>
                <a:sym typeface="Calibri"/>
              </a:rPr>
              <a:t>IIT Kharagpur × upGrad  ·  Lecture 3  ·  Hands-On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2026-07-29T17:37:28Z</dcterms:created>
  <dc:creator>IIT Kharagpur x upGrad</dc:creator>
</cp:coreProperties>
</file>